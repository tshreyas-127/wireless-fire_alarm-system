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256" r:id="rId2"/>
    <p:sldId id="295" r:id="rId3"/>
    <p:sldId id="257" r:id="rId4"/>
    <p:sldId id="297" r:id="rId5"/>
    <p:sldId id="298" r:id="rId6"/>
    <p:sldId id="299" r:id="rId7"/>
    <p:sldId id="300" r:id="rId8"/>
    <p:sldId id="313" r:id="rId9"/>
    <p:sldId id="314" r:id="rId10"/>
    <p:sldId id="315" r:id="rId11"/>
    <p:sldId id="316" r:id="rId12"/>
    <p:sldId id="307" r:id="rId13"/>
    <p:sldId id="317" r:id="rId14"/>
    <p:sldId id="306" r:id="rId15"/>
    <p:sldId id="311" r:id="rId16"/>
    <p:sldId id="312" r:id="rId17"/>
    <p:sldId id="278" r:id="rId18"/>
  </p:sldIdLst>
  <p:sldSz cx="9144000" cy="5143500" type="screen16x9"/>
  <p:notesSz cx="6858000" cy="9144000"/>
  <p:embeddedFontLst>
    <p:embeddedFont>
      <p:font typeface="Arvo" panose="020B0604020202020204" charset="0"/>
      <p:regular r:id="rId21"/>
      <p:bold r:id="rId22"/>
      <p:italic r:id="rId23"/>
      <p:boldItalic r:id="rId24"/>
    </p:embeddedFont>
    <p:embeddedFont>
      <p:font typeface="Roboto Condensed" panose="02000000000000000000" pitchFamily="2" charset="0"/>
      <p:regular r:id="rId25"/>
      <p:bold r:id="rId26"/>
      <p:italic r:id="rId27"/>
      <p:boldItalic r:id="rId28"/>
    </p:embeddedFont>
    <p:embeddedFont>
      <p:font typeface="Roboto Condensed Light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9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A11249-6284-2F6C-06C5-EDEC7FCE0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E4D81-27BF-3C2B-0F97-C3C007E769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5D6E4-DE3B-4D7D-98EF-D76591673441}" type="datetimeFigureOut">
              <a:rPr lang="en-IN" smtClean="0"/>
              <a:t>04-05-2024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3F0B2-B484-8085-4A95-D078F1F7FE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1E2B3-A71A-25ED-1A88-FDA758B61D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4F3FB-01A9-462F-B488-60C811B0E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915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007EAD5-24F1-6527-63FD-DFEF959CC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11" y="154153"/>
            <a:ext cx="106172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7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2"/>
                <a:ext cx="10612202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1000" b="1" i="0" dirty="0">
                  <a:solidFill>
                    <a:schemeClr val="tx1">
                      <a:lumMod val="75000"/>
                    </a:schemeClr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200" b="1" i="0" dirty="0">
                  <a:solidFill>
                    <a:schemeClr val="bg1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200" b="1" i="0" dirty="0">
                  <a:solidFill>
                    <a:schemeClr val="bg1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IN" sz="1000" b="1" i="0" dirty="0">
                    <a:solidFill>
                      <a:schemeClr val="bg1"/>
                    </a:solidFill>
                    <a:effectLst/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Department of Electronics Engineering</a:t>
                </a:r>
                <a:endParaRPr lang="en-IN" sz="1000" b="1" dirty="0">
                  <a:solidFill>
                    <a:schemeClr val="bg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948333"/>
            <a:ext cx="1487400" cy="1951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DF7ABA7-46FF-15F1-5FAE-AB29705569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126" y="191400"/>
            <a:ext cx="106172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1000" b="1" i="0" dirty="0">
                  <a:solidFill>
                    <a:schemeClr val="tx1">
                      <a:lumMod val="75000"/>
                    </a:schemeClr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200" b="1" i="0" dirty="0">
                  <a:solidFill>
                    <a:schemeClr val="bg1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en-IN" sz="200" b="1" i="0" dirty="0">
                  <a:solidFill>
                    <a:schemeClr val="bg1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IN" sz="1000" b="1" i="0" dirty="0">
                    <a:solidFill>
                      <a:schemeClr val="bg1"/>
                    </a:solidFill>
                    <a:effectLst/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Department of Electronics Engineering</a:t>
                </a:r>
                <a:endParaRPr lang="en-IN" sz="1000" b="1" dirty="0">
                  <a:solidFill>
                    <a:schemeClr val="bg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endParaRPr lang="en" dirty="0"/>
          </a:p>
          <a:p>
            <a:endParaRPr lang="en" dirty="0"/>
          </a:p>
          <a:p>
            <a:endParaRPr lang="en" dirty="0"/>
          </a:p>
          <a:p>
            <a:fld id="{00000000-1234-1234-1234-123412341234}" type="slidenum">
              <a:rPr lang="en" sz="1100" smtClean="0">
                <a:solidFill>
                  <a:schemeClr val="tx1"/>
                </a:solidFill>
              </a:rPr>
              <a:pPr/>
              <a:t>‹#›</a:t>
            </a:fld>
            <a:endParaRPr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C0B8A8-C234-D9CC-2060-D5C9C8BE4B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126" y="191400"/>
            <a:ext cx="106172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" TargetMode="External"/><Relationship Id="rId2" Type="http://schemas.openxmlformats.org/officeDocument/2006/relationships/hyperlink" Target="https://howtomechatronic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rdicsemi.com/Products/Technologies/Security" TargetMode="External"/><Relationship Id="rId5" Type="http://schemas.openxmlformats.org/officeDocument/2006/relationships/hyperlink" Target="https://components101.com/microcontrollers/arduino-uno" TargetMode="External"/><Relationship Id="rId4" Type="http://schemas.openxmlformats.org/officeDocument/2006/relationships/hyperlink" Target="https://components101.com/wireless/nrf24l01-pinout-features-datashee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A6A06-054D-E823-CEA0-EA058129656C}"/>
              </a:ext>
            </a:extLst>
          </p:cNvPr>
          <p:cNvSpPr txBox="1"/>
          <p:nvPr/>
        </p:nvSpPr>
        <p:spPr>
          <a:xfrm>
            <a:off x="368413" y="92380"/>
            <a:ext cx="7021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" sz="3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/>
                <a:ea typeface="Roboto Condensed"/>
                <a:sym typeface="Roboto Condensed"/>
              </a:rPr>
              <a:t>EXCS-BE-06</a:t>
            </a:r>
          </a:p>
          <a:p>
            <a:pPr algn="ctr">
              <a:buClr>
                <a:schemeClr val="lt1"/>
              </a:buClr>
              <a:buSzPts val="4800"/>
            </a:pPr>
            <a:r>
              <a:rPr lang="en" sz="3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/>
                <a:ea typeface="Roboto Condensed"/>
                <a:sym typeface="Roboto Condensed"/>
              </a:rPr>
              <a:t>WIRELESS FIRE ALARM SYSTEM</a:t>
            </a:r>
            <a:endParaRPr lang="en-IN" sz="3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/>
              <a:ea typeface="Roboto Condensed"/>
              <a:sym typeface="Roboto Condensed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73D438BA-569E-DF75-4DD6-5934D3EAB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24985"/>
              </p:ext>
            </p:extLst>
          </p:nvPr>
        </p:nvGraphicFramePr>
        <p:xfrm>
          <a:off x="536120" y="1788886"/>
          <a:ext cx="735057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3226">
                  <a:extLst>
                    <a:ext uri="{9D8B030D-6E8A-4147-A177-3AD203B41FA5}">
                      <a16:colId xmlns:a16="http://schemas.microsoft.com/office/drawing/2014/main" val="524172308"/>
                    </a:ext>
                  </a:extLst>
                </a:gridCol>
                <a:gridCol w="2402063">
                  <a:extLst>
                    <a:ext uri="{9D8B030D-6E8A-4147-A177-3AD203B41FA5}">
                      <a16:colId xmlns:a16="http://schemas.microsoft.com/office/drawing/2014/main" val="879825931"/>
                    </a:ext>
                  </a:extLst>
                </a:gridCol>
                <a:gridCol w="2246541">
                  <a:extLst>
                    <a:ext uri="{9D8B030D-6E8A-4147-A177-3AD203B41FA5}">
                      <a16:colId xmlns:a16="http://schemas.microsoft.com/office/drawing/2014/main" val="3507871298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435657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Roll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+mn-cs"/>
                          <a:sym typeface="Arial"/>
                        </a:rPr>
                        <a:t>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+mn-cs"/>
                          <a:sym typeface="Arial"/>
                        </a:rPr>
                        <a:t>Email ID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+mn-cs"/>
                          <a:sym typeface="Arial"/>
                        </a:rPr>
                        <a:t>Mobile Number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87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20103B0031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TEJAS BRID`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tejas.brid@vit.edu.in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8369922997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263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20103B0049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NAVDEEP PATIL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navdeep.patil@vit.edu.in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8866557829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535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20103B0048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SIDDHANT DETHE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siddhant.dethe@vit.edu.in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7304203535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5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20103B0051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SHREYAS TUKRUL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shreyas.tukrul@vit.edu.in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8104099114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97949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0AEACDE-B37D-DAE3-5EA6-261DEF135D3E}"/>
              </a:ext>
            </a:extLst>
          </p:cNvPr>
          <p:cNvSpPr txBox="1"/>
          <p:nvPr/>
        </p:nvSpPr>
        <p:spPr>
          <a:xfrm>
            <a:off x="536121" y="1242657"/>
            <a:ext cx="2947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/>
                <a:ea typeface="Roboto Condensed"/>
              </a:rPr>
              <a:t>Group Members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EC5580-725C-9A79-4FB0-2C2B82CA3502}"/>
              </a:ext>
            </a:extLst>
          </p:cNvPr>
          <p:cNvSpPr txBox="1"/>
          <p:nvPr/>
        </p:nvSpPr>
        <p:spPr>
          <a:xfrm>
            <a:off x="432707" y="4297528"/>
            <a:ext cx="29473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Under the Guidance of :</a:t>
            </a:r>
          </a:p>
          <a:p>
            <a:r>
              <a:rPr lang="en-IN" sz="18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Prof. Amol </a:t>
            </a:r>
            <a:r>
              <a:rPr lang="en-IN" sz="18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Sakhalkar</a:t>
            </a:r>
            <a:endParaRPr lang="en-IN" sz="18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281E-E690-9373-A471-F832348E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Expert with whom Project proposal is discussed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6A8F4-C60F-CA12-2B54-1D1FD891D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Name: Amol </a:t>
            </a:r>
            <a:r>
              <a:rPr lang="en-US" dirty="0" err="1"/>
              <a:t>Sakhalkar</a:t>
            </a:r>
            <a:endParaRPr lang="en-US" dirty="0"/>
          </a:p>
          <a:p>
            <a:r>
              <a:rPr lang="en-US" dirty="0"/>
              <a:t>Designation: Guide in-charge</a:t>
            </a:r>
          </a:p>
          <a:p>
            <a:r>
              <a:rPr lang="en-US" dirty="0"/>
              <a:t>Email: amol.sakhalkar@vit.edu.in</a:t>
            </a:r>
          </a:p>
          <a:p>
            <a:r>
              <a:rPr lang="en-US" dirty="0"/>
              <a:t> Mobile number: 9820632790</a:t>
            </a:r>
            <a:endParaRPr lang="en-IN" dirty="0"/>
          </a:p>
        </p:txBody>
      </p:sp>
      <p:sp>
        <p:nvSpPr>
          <p:cNvPr id="5" name="Google Shape;999;p46">
            <a:extLst>
              <a:ext uri="{FF2B5EF4-FFF2-40B4-BE49-F238E27FC236}">
                <a16:creationId xmlns:a16="http://schemas.microsoft.com/office/drawing/2014/main" id="{BA93B188-0DEC-9DED-1FE7-360D90FA9265}"/>
              </a:ext>
            </a:extLst>
          </p:cNvPr>
          <p:cNvSpPr/>
          <p:nvPr/>
        </p:nvSpPr>
        <p:spPr>
          <a:xfrm>
            <a:off x="282194" y="559017"/>
            <a:ext cx="354620" cy="428861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E3F0B-A8F0-26BC-6E9B-4A3FAF644B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00496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</a:t>
            </a:r>
            <a:endParaRPr dirty="0"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867438" y="1802833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dirty="0"/>
              <a:t>Our project of Wireless Fire Safety Alarm transmits the signal wirelessly with the aid of </a:t>
            </a:r>
            <a:r>
              <a:rPr lang="en-US" dirty="0" err="1"/>
              <a:t>nRF</a:t>
            </a:r>
            <a:r>
              <a:rPr lang="en-US" dirty="0"/>
              <a:t> module thereby reducing the risks involved in physical detection of fire, wire cutting &amp; time consumption</a:t>
            </a:r>
            <a:endParaRPr dirty="0"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A674BA-8E37-9B1E-E4CE-66DBFEC692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0ECB-7C8B-175F-60A2-922E48CF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Usefulness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E23C1-6B3C-44B1-7086-85F81136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Important in safety of system.</a:t>
            </a:r>
          </a:p>
          <a:p>
            <a:r>
              <a:rPr lang="en-IN" dirty="0"/>
              <a:t>Easier installing process.</a:t>
            </a:r>
          </a:p>
          <a:p>
            <a:r>
              <a:rPr lang="en-IN" dirty="0"/>
              <a:t>Flexible and expandable.</a:t>
            </a:r>
          </a:p>
          <a:p>
            <a:r>
              <a:rPr lang="en-IN" dirty="0"/>
              <a:t>Remote monitorization.</a:t>
            </a:r>
          </a:p>
          <a:p>
            <a:r>
              <a:rPr lang="en-IN" dirty="0"/>
              <a:t>Cost effective.</a:t>
            </a:r>
          </a:p>
          <a:p>
            <a:r>
              <a:rPr lang="en-IN" dirty="0"/>
              <a:t>Failure of one node does not affect other.</a:t>
            </a:r>
          </a:p>
          <a:p>
            <a:endParaRPr lang="en-IN" dirty="0"/>
          </a:p>
          <a:p>
            <a:endParaRPr lang="en-IN" dirty="0"/>
          </a:p>
        </p:txBody>
      </p:sp>
      <p:grpSp>
        <p:nvGrpSpPr>
          <p:cNvPr id="5" name="Google Shape;934;p46">
            <a:extLst>
              <a:ext uri="{FF2B5EF4-FFF2-40B4-BE49-F238E27FC236}">
                <a16:creationId xmlns:a16="http://schemas.microsoft.com/office/drawing/2014/main" id="{D048A9BC-E5E8-4DB3-69E8-46CB0E94C661}"/>
              </a:ext>
            </a:extLst>
          </p:cNvPr>
          <p:cNvGrpSpPr/>
          <p:nvPr/>
        </p:nvGrpSpPr>
        <p:grpSpPr>
          <a:xfrm>
            <a:off x="321422" y="609167"/>
            <a:ext cx="333016" cy="333016"/>
            <a:chOff x="2594050" y="1631825"/>
            <a:chExt cx="439625" cy="439625"/>
          </a:xfrm>
        </p:grpSpPr>
        <p:sp>
          <p:nvSpPr>
            <p:cNvPr id="6" name="Google Shape;935;p46">
              <a:extLst>
                <a:ext uri="{FF2B5EF4-FFF2-40B4-BE49-F238E27FC236}">
                  <a16:creationId xmlns:a16="http://schemas.microsoft.com/office/drawing/2014/main" id="{E9475C7D-AF62-D858-B479-E6274923891B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936;p46">
              <a:extLst>
                <a:ext uri="{FF2B5EF4-FFF2-40B4-BE49-F238E27FC236}">
                  <a16:creationId xmlns:a16="http://schemas.microsoft.com/office/drawing/2014/main" id="{A8ACE37F-7F20-6982-E5AA-9A7277366B5D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937;p46">
              <a:extLst>
                <a:ext uri="{FF2B5EF4-FFF2-40B4-BE49-F238E27FC236}">
                  <a16:creationId xmlns:a16="http://schemas.microsoft.com/office/drawing/2014/main" id="{A6F12151-E2D9-98E9-A515-9A405315E96B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938;p46">
              <a:extLst>
                <a:ext uri="{FF2B5EF4-FFF2-40B4-BE49-F238E27FC236}">
                  <a16:creationId xmlns:a16="http://schemas.microsoft.com/office/drawing/2014/main" id="{B471FA89-6CBD-CFFD-3704-AF035A928D65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39E9E0-ECF5-25A1-C5A1-8259E9F50C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3979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C00-1E0A-7E11-18A8-60947AB4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impact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9E27E-AEF4-F58D-A77E-6B41B05FA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r>
              <a:rPr lang="en-IN" dirty="0"/>
              <a:t>Improved security.</a:t>
            </a:r>
          </a:p>
          <a:p>
            <a:r>
              <a:rPr lang="en-IN" dirty="0"/>
              <a:t>Faster response.</a:t>
            </a:r>
          </a:p>
          <a:p>
            <a:r>
              <a:rPr lang="en-IN" dirty="0"/>
              <a:t>Property Protection.</a:t>
            </a:r>
          </a:p>
          <a:p>
            <a:r>
              <a:rPr lang="en-IN" dirty="0"/>
              <a:t>Reduced false alarms.</a:t>
            </a:r>
          </a:p>
          <a:p>
            <a:r>
              <a:rPr lang="en-IN" dirty="0"/>
              <a:t>Environmental impact</a:t>
            </a:r>
          </a:p>
        </p:txBody>
      </p:sp>
      <p:grpSp>
        <p:nvGrpSpPr>
          <p:cNvPr id="38" name="Google Shape;1455;p47">
            <a:extLst>
              <a:ext uri="{FF2B5EF4-FFF2-40B4-BE49-F238E27FC236}">
                <a16:creationId xmlns:a16="http://schemas.microsoft.com/office/drawing/2014/main" id="{933C8751-82D7-9C3F-3A4D-7A74453E5867}"/>
              </a:ext>
            </a:extLst>
          </p:cNvPr>
          <p:cNvGrpSpPr/>
          <p:nvPr/>
        </p:nvGrpSpPr>
        <p:grpSpPr>
          <a:xfrm>
            <a:off x="181645" y="529947"/>
            <a:ext cx="460705" cy="491455"/>
            <a:chOff x="7638277" y="937343"/>
            <a:chExt cx="744273" cy="793950"/>
          </a:xfrm>
        </p:grpSpPr>
        <p:sp>
          <p:nvSpPr>
            <p:cNvPr id="39" name="Google Shape;1456;p47">
              <a:extLst>
                <a:ext uri="{FF2B5EF4-FFF2-40B4-BE49-F238E27FC236}">
                  <a16:creationId xmlns:a16="http://schemas.microsoft.com/office/drawing/2014/main" id="{D0E9CB3B-9B2C-1B5E-5356-8EB8686152B6}"/>
                </a:ext>
              </a:extLst>
            </p:cNvPr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1"/>
              </a:solidFill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457;p47">
              <a:extLst>
                <a:ext uri="{FF2B5EF4-FFF2-40B4-BE49-F238E27FC236}">
                  <a16:creationId xmlns:a16="http://schemas.microsoft.com/office/drawing/2014/main" id="{2007B758-7BC3-CC6E-9FA3-A7F827A67F18}"/>
                </a:ext>
              </a:extLst>
            </p:cNvPr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458;p47">
              <a:extLst>
                <a:ext uri="{FF2B5EF4-FFF2-40B4-BE49-F238E27FC236}">
                  <a16:creationId xmlns:a16="http://schemas.microsoft.com/office/drawing/2014/main" id="{54B9C223-7749-85F3-75A7-D9A22E40BD44}"/>
                </a:ext>
              </a:extLst>
            </p:cNvPr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bg1"/>
              </a:solidFill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459;p47">
              <a:extLst>
                <a:ext uri="{FF2B5EF4-FFF2-40B4-BE49-F238E27FC236}">
                  <a16:creationId xmlns:a16="http://schemas.microsoft.com/office/drawing/2014/main" id="{C3BEE9C3-53C6-93B8-02BD-B06B6A020B44}"/>
                </a:ext>
              </a:extLst>
            </p:cNvPr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/>
              </a:solidFill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1460;p47">
              <a:extLst>
                <a:ext uri="{FF2B5EF4-FFF2-40B4-BE49-F238E27FC236}">
                  <a16:creationId xmlns:a16="http://schemas.microsoft.com/office/drawing/2014/main" id="{CC0AC427-AB25-2748-EC02-7BAC5B5EEC4F}"/>
                </a:ext>
              </a:extLst>
            </p:cNvPr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44" name="Google Shape;1461;p47">
                <a:extLst>
                  <a:ext uri="{FF2B5EF4-FFF2-40B4-BE49-F238E27FC236}">
                    <a16:creationId xmlns:a16="http://schemas.microsoft.com/office/drawing/2014/main" id="{A29BCDBC-9721-B997-939D-A89ED8AEBA9A}"/>
                  </a:ext>
                </a:extLst>
              </p:cNvPr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462;p47">
                <a:extLst>
                  <a:ext uri="{FF2B5EF4-FFF2-40B4-BE49-F238E27FC236}">
                    <a16:creationId xmlns:a16="http://schemas.microsoft.com/office/drawing/2014/main" id="{8B3562F9-C897-905D-0636-8C9225351455}"/>
                  </a:ext>
                </a:extLst>
              </p:cNvPr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463;p47">
                <a:extLst>
                  <a:ext uri="{FF2B5EF4-FFF2-40B4-BE49-F238E27FC236}">
                    <a16:creationId xmlns:a16="http://schemas.microsoft.com/office/drawing/2014/main" id="{F011CDD0-AB00-B0DE-CC5A-E62961C7F330}"/>
                  </a:ext>
                </a:extLst>
              </p:cNvPr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464;p47">
                <a:extLst>
                  <a:ext uri="{FF2B5EF4-FFF2-40B4-BE49-F238E27FC236}">
                    <a16:creationId xmlns:a16="http://schemas.microsoft.com/office/drawing/2014/main" id="{4BB9449D-E70F-342B-8731-494829E9C84E}"/>
                  </a:ext>
                </a:extLst>
              </p:cNvPr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465;p47">
                <a:extLst>
                  <a:ext uri="{FF2B5EF4-FFF2-40B4-BE49-F238E27FC236}">
                    <a16:creationId xmlns:a16="http://schemas.microsoft.com/office/drawing/2014/main" id="{396787CC-00DF-BD3A-1A26-F35C94591912}"/>
                  </a:ext>
                </a:extLst>
              </p:cNvPr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466;p47">
                <a:extLst>
                  <a:ext uri="{FF2B5EF4-FFF2-40B4-BE49-F238E27FC236}">
                    <a16:creationId xmlns:a16="http://schemas.microsoft.com/office/drawing/2014/main" id="{7B6B22B2-9263-67FE-1154-88D11A11B70E}"/>
                  </a:ext>
                </a:extLst>
              </p:cNvPr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467;p47">
                <a:extLst>
                  <a:ext uri="{FF2B5EF4-FFF2-40B4-BE49-F238E27FC236}">
                    <a16:creationId xmlns:a16="http://schemas.microsoft.com/office/drawing/2014/main" id="{EE4AE015-BDFE-4C1E-0A4A-4583B547F57B}"/>
                  </a:ext>
                </a:extLst>
              </p:cNvPr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468;p47">
                <a:extLst>
                  <a:ext uri="{FF2B5EF4-FFF2-40B4-BE49-F238E27FC236}">
                    <a16:creationId xmlns:a16="http://schemas.microsoft.com/office/drawing/2014/main" id="{06502B66-CB4A-BAD6-C245-F67AB5011331}"/>
                  </a:ext>
                </a:extLst>
              </p:cNvPr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469;p47">
                <a:extLst>
                  <a:ext uri="{FF2B5EF4-FFF2-40B4-BE49-F238E27FC236}">
                    <a16:creationId xmlns:a16="http://schemas.microsoft.com/office/drawing/2014/main" id="{F94B3DAC-CF2F-4281-6CDC-65B4AA1573DD}"/>
                  </a:ext>
                </a:extLst>
              </p:cNvPr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470;p47">
                <a:extLst>
                  <a:ext uri="{FF2B5EF4-FFF2-40B4-BE49-F238E27FC236}">
                    <a16:creationId xmlns:a16="http://schemas.microsoft.com/office/drawing/2014/main" id="{75631BB0-9FC3-64E4-3575-BBD152D5B842}"/>
                  </a:ext>
                </a:extLst>
              </p:cNvPr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solidFill>
                  <a:schemeClr val="bg1"/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B8409672-84AC-360C-8AF0-08DD0016CC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0348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54BC-EABE-E7AF-800F-42E34438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defined for the project</a:t>
            </a:r>
            <a:endParaRPr lang="en-IN" dirty="0"/>
          </a:p>
        </p:txBody>
      </p:sp>
      <p:grpSp>
        <p:nvGrpSpPr>
          <p:cNvPr id="5" name="Google Shape;952;p46">
            <a:extLst>
              <a:ext uri="{FF2B5EF4-FFF2-40B4-BE49-F238E27FC236}">
                <a16:creationId xmlns:a16="http://schemas.microsoft.com/office/drawing/2014/main" id="{56D3021B-A1DE-B75B-A663-812505C9B645}"/>
              </a:ext>
            </a:extLst>
          </p:cNvPr>
          <p:cNvGrpSpPr/>
          <p:nvPr/>
        </p:nvGrpSpPr>
        <p:grpSpPr>
          <a:xfrm>
            <a:off x="259410" y="574066"/>
            <a:ext cx="442719" cy="403217"/>
            <a:chOff x="5961125" y="1623900"/>
            <a:chExt cx="427450" cy="448175"/>
          </a:xfrm>
        </p:grpSpPr>
        <p:sp>
          <p:nvSpPr>
            <p:cNvPr id="6" name="Google Shape;953;p46">
              <a:extLst>
                <a:ext uri="{FF2B5EF4-FFF2-40B4-BE49-F238E27FC236}">
                  <a16:creationId xmlns:a16="http://schemas.microsoft.com/office/drawing/2014/main" id="{151F20A9-5F18-6806-9737-FED4D2D8B69A}"/>
                </a:ext>
              </a:extLst>
            </p:cNvPr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954;p46">
              <a:extLst>
                <a:ext uri="{FF2B5EF4-FFF2-40B4-BE49-F238E27FC236}">
                  <a16:creationId xmlns:a16="http://schemas.microsoft.com/office/drawing/2014/main" id="{3A943471-F3E1-9FC6-D911-C803970BF198}"/>
                </a:ext>
              </a:extLst>
            </p:cNvPr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955;p46">
              <a:extLst>
                <a:ext uri="{FF2B5EF4-FFF2-40B4-BE49-F238E27FC236}">
                  <a16:creationId xmlns:a16="http://schemas.microsoft.com/office/drawing/2014/main" id="{D03B3AEB-32A8-8D8F-D514-D93872F913A5}"/>
                </a:ext>
              </a:extLst>
            </p:cNvPr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956;p46">
              <a:extLst>
                <a:ext uri="{FF2B5EF4-FFF2-40B4-BE49-F238E27FC236}">
                  <a16:creationId xmlns:a16="http://schemas.microsoft.com/office/drawing/2014/main" id="{4D37C618-EAE7-EE90-1F68-D17CA2C387DE}"/>
                </a:ext>
              </a:extLst>
            </p:cNvPr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957;p46">
              <a:extLst>
                <a:ext uri="{FF2B5EF4-FFF2-40B4-BE49-F238E27FC236}">
                  <a16:creationId xmlns:a16="http://schemas.microsoft.com/office/drawing/2014/main" id="{2D193A4B-D2A4-81FC-AD97-B26B27145239}"/>
                </a:ext>
              </a:extLst>
            </p:cNvPr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958;p46">
              <a:extLst>
                <a:ext uri="{FF2B5EF4-FFF2-40B4-BE49-F238E27FC236}">
                  <a16:creationId xmlns:a16="http://schemas.microsoft.com/office/drawing/2014/main" id="{D01600DF-D025-8CA6-A11E-ECAFB8D284A5}"/>
                </a:ext>
              </a:extLst>
            </p:cNvPr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959;p46">
              <a:extLst>
                <a:ext uri="{FF2B5EF4-FFF2-40B4-BE49-F238E27FC236}">
                  <a16:creationId xmlns:a16="http://schemas.microsoft.com/office/drawing/2014/main" id="{F21B9E76-A3CD-AC14-3CD9-ECD3293846CA}"/>
                </a:ext>
              </a:extLst>
            </p:cNvPr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14359E-42EE-BB7E-5D1B-91B2D1AC15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4006E1-AC0E-D280-BA32-AB924492A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1</a:t>
            </a:r>
            <a:r>
              <a:rPr lang="en-US" sz="1100" b="1" dirty="0"/>
              <a:t>. Reliable Fire Detection</a:t>
            </a:r>
            <a:r>
              <a:rPr lang="en-US" sz="1100" dirty="0"/>
              <a:t> To create and build a system for accurately detecting fire incidents utilizing appropriate sensors such as temperature sensors and smoke detectors. </a:t>
            </a:r>
          </a:p>
          <a:p>
            <a:r>
              <a:rPr lang="en-US" sz="1100" dirty="0"/>
              <a:t>2. </a:t>
            </a:r>
            <a:r>
              <a:rPr lang="en-US" sz="1100" b="1" dirty="0"/>
              <a:t>Wireless Communication </a:t>
            </a:r>
            <a:r>
              <a:rPr lang="en-US" sz="1100" dirty="0"/>
              <a:t>To create a dependable wireless network between fire sensors and a central hub by utilizing </a:t>
            </a:r>
            <a:r>
              <a:rPr lang="en-US" sz="1100" dirty="0" err="1"/>
              <a:t>nRF</a:t>
            </a:r>
            <a:r>
              <a:rPr lang="en-US" sz="1100" dirty="0"/>
              <a:t> modules for data transfer. </a:t>
            </a:r>
          </a:p>
          <a:p>
            <a:r>
              <a:rPr lang="en-US" sz="1100" dirty="0"/>
              <a:t>3. T</a:t>
            </a:r>
            <a:r>
              <a:rPr lang="en-US" sz="1100" b="1" dirty="0"/>
              <a:t>riggering Fast Alarms</a:t>
            </a:r>
            <a:r>
              <a:rPr lang="en-US" sz="1100" dirty="0"/>
              <a:t> To reduce response time by guaranteeing effective data processing and prompt alarm activation at the central hub upon fire detection</a:t>
            </a:r>
          </a:p>
          <a:p>
            <a:r>
              <a:rPr lang="en-US" sz="1100" dirty="0"/>
              <a:t>. 4</a:t>
            </a:r>
            <a:r>
              <a:rPr lang="en-US" sz="1100" b="1" dirty="0"/>
              <a:t>. Enhancing Situational Awareness </a:t>
            </a:r>
            <a:r>
              <a:rPr lang="en-US" sz="1100" dirty="0"/>
              <a:t>To create features that offer real-time information on fire location and severity, potentially integrating with existing building management systems. </a:t>
            </a:r>
          </a:p>
          <a:p>
            <a:r>
              <a:rPr lang="en-US" sz="1100" dirty="0"/>
              <a:t>5</a:t>
            </a:r>
            <a:r>
              <a:rPr lang="en-US" sz="1100" b="1" dirty="0"/>
              <a:t>. Low Power Consumption </a:t>
            </a:r>
            <a:r>
              <a:rPr lang="en-US" sz="1100" dirty="0"/>
              <a:t>To optimize system design to reduce the power consumption of </a:t>
            </a:r>
            <a:r>
              <a:rPr lang="en-US" sz="1100" dirty="0" err="1"/>
              <a:t>nRF</a:t>
            </a:r>
            <a:r>
              <a:rPr lang="en-US" sz="1100" dirty="0"/>
              <a:t> modules and fire sensors, assuring longer battery life.</a:t>
            </a:r>
          </a:p>
          <a:p>
            <a:r>
              <a:rPr lang="en-US" sz="1100" dirty="0"/>
              <a:t>6</a:t>
            </a:r>
            <a:r>
              <a:rPr lang="en-US" sz="1100" b="1" dirty="0"/>
              <a:t>. Cost Effectiveness </a:t>
            </a:r>
            <a:r>
              <a:rPr lang="en-US" sz="1100" dirty="0"/>
              <a:t>To use cost-effective components and </a:t>
            </a:r>
            <a:r>
              <a:rPr lang="en-US" sz="1100" dirty="0" err="1"/>
              <a:t>nRF</a:t>
            </a:r>
            <a:r>
              <a:rPr lang="en-US" sz="1100" dirty="0"/>
              <a:t> modules to design a fire </a:t>
            </a:r>
            <a:r>
              <a:rPr lang="en-US" sz="1100" dirty="0" err="1"/>
              <a:t>alarmsystem</a:t>
            </a:r>
            <a:r>
              <a:rPr lang="en-US" sz="1100" dirty="0"/>
              <a:t> that is both accessible and economical for a variety of deployment scenarios.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14465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6FCE-F64F-FB83-0743-05982F05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Needed (Hardware and Software)</a:t>
            </a:r>
            <a:endParaRPr lang="en-IN" dirty="0"/>
          </a:p>
        </p:txBody>
      </p:sp>
      <p:grpSp>
        <p:nvGrpSpPr>
          <p:cNvPr id="16" name="Google Shape;1587;p47">
            <a:extLst>
              <a:ext uri="{FF2B5EF4-FFF2-40B4-BE49-F238E27FC236}">
                <a16:creationId xmlns:a16="http://schemas.microsoft.com/office/drawing/2014/main" id="{DD8FFFF3-3351-E9F9-3F31-07CA9957DBD8}"/>
              </a:ext>
            </a:extLst>
          </p:cNvPr>
          <p:cNvGrpSpPr/>
          <p:nvPr/>
        </p:nvGrpSpPr>
        <p:grpSpPr>
          <a:xfrm>
            <a:off x="286203" y="552826"/>
            <a:ext cx="445768" cy="445697"/>
            <a:chOff x="1674084" y="3214987"/>
            <a:chExt cx="720142" cy="720027"/>
          </a:xfrm>
        </p:grpSpPr>
        <p:sp>
          <p:nvSpPr>
            <p:cNvPr id="17" name="Google Shape;1588;p47">
              <a:extLst>
                <a:ext uri="{FF2B5EF4-FFF2-40B4-BE49-F238E27FC236}">
                  <a16:creationId xmlns:a16="http://schemas.microsoft.com/office/drawing/2014/main" id="{3667FAC8-5354-BBCD-850A-66AAC855F786}"/>
                </a:ext>
              </a:extLst>
            </p:cNvPr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589;p47">
              <a:extLst>
                <a:ext uri="{FF2B5EF4-FFF2-40B4-BE49-F238E27FC236}">
                  <a16:creationId xmlns:a16="http://schemas.microsoft.com/office/drawing/2014/main" id="{CCA889A2-22BA-CF93-D952-DE6181DB2222}"/>
                </a:ext>
              </a:extLst>
            </p:cNvPr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590;p47">
              <a:extLst>
                <a:ext uri="{FF2B5EF4-FFF2-40B4-BE49-F238E27FC236}">
                  <a16:creationId xmlns:a16="http://schemas.microsoft.com/office/drawing/2014/main" id="{A7F044EC-8169-38DD-BE9A-5BA4F9C374A3}"/>
                </a:ext>
              </a:extLst>
            </p:cNvPr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591;p47">
              <a:extLst>
                <a:ext uri="{FF2B5EF4-FFF2-40B4-BE49-F238E27FC236}">
                  <a16:creationId xmlns:a16="http://schemas.microsoft.com/office/drawing/2014/main" id="{ADF76295-798B-EF9B-3913-166F686E438C}"/>
                </a:ext>
              </a:extLst>
            </p:cNvPr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592;p47">
              <a:extLst>
                <a:ext uri="{FF2B5EF4-FFF2-40B4-BE49-F238E27FC236}">
                  <a16:creationId xmlns:a16="http://schemas.microsoft.com/office/drawing/2014/main" id="{60E47492-3F35-E6A9-B956-35476D57CB93}"/>
                </a:ext>
              </a:extLst>
            </p:cNvPr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93;p47">
              <a:extLst>
                <a:ext uri="{FF2B5EF4-FFF2-40B4-BE49-F238E27FC236}">
                  <a16:creationId xmlns:a16="http://schemas.microsoft.com/office/drawing/2014/main" id="{BC13D2CC-1EB6-BB2A-8852-8EFA87E159BE}"/>
                </a:ext>
              </a:extLst>
            </p:cNvPr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594;p47">
              <a:extLst>
                <a:ext uri="{FF2B5EF4-FFF2-40B4-BE49-F238E27FC236}">
                  <a16:creationId xmlns:a16="http://schemas.microsoft.com/office/drawing/2014/main" id="{9EB85509-1EA8-6FB1-91C8-B87BE558B44A}"/>
                </a:ext>
              </a:extLst>
            </p:cNvPr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595;p47">
              <a:extLst>
                <a:ext uri="{FF2B5EF4-FFF2-40B4-BE49-F238E27FC236}">
                  <a16:creationId xmlns:a16="http://schemas.microsoft.com/office/drawing/2014/main" id="{A37BBDA4-AEB0-32B6-B58D-7CFDD4EF7903}"/>
                </a:ext>
              </a:extLst>
            </p:cNvPr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596;p47">
              <a:extLst>
                <a:ext uri="{FF2B5EF4-FFF2-40B4-BE49-F238E27FC236}">
                  <a16:creationId xmlns:a16="http://schemas.microsoft.com/office/drawing/2014/main" id="{F2F27D55-8827-6CAC-14E4-1999638792F6}"/>
                </a:ext>
              </a:extLst>
            </p:cNvPr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597;p47">
              <a:extLst>
                <a:ext uri="{FF2B5EF4-FFF2-40B4-BE49-F238E27FC236}">
                  <a16:creationId xmlns:a16="http://schemas.microsoft.com/office/drawing/2014/main" id="{9B707A78-769C-673F-DD03-E61DC9FCF704}"/>
                </a:ext>
              </a:extLst>
            </p:cNvPr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598;p47">
              <a:extLst>
                <a:ext uri="{FF2B5EF4-FFF2-40B4-BE49-F238E27FC236}">
                  <a16:creationId xmlns:a16="http://schemas.microsoft.com/office/drawing/2014/main" id="{0D09F4A3-DE67-318A-5BE4-578E44BC1FD2}"/>
                </a:ext>
              </a:extLst>
            </p:cNvPr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599;p47">
              <a:extLst>
                <a:ext uri="{FF2B5EF4-FFF2-40B4-BE49-F238E27FC236}">
                  <a16:creationId xmlns:a16="http://schemas.microsoft.com/office/drawing/2014/main" id="{F542587B-6D1B-2A86-20AB-4950504345E8}"/>
                </a:ext>
              </a:extLst>
            </p:cNvPr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B3D5F8B-D6DD-4B66-5D54-25FCED6557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248FD5-7744-43D7-3A2C-49C0724D7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344563"/>
              </p:ext>
            </p:extLst>
          </p:nvPr>
        </p:nvGraphicFramePr>
        <p:xfrm>
          <a:off x="914241" y="1607502"/>
          <a:ext cx="6591154" cy="2594369"/>
        </p:xfrm>
        <a:graphic>
          <a:graphicData uri="http://schemas.openxmlformats.org/drawingml/2006/table">
            <a:tbl>
              <a:tblPr firstRow="1" firstCol="1" bandRow="1">
                <a:tableStyleId>{E27665BA-8202-44FC-AD62-C9F0E3EA811A}</a:tableStyleId>
              </a:tblPr>
              <a:tblGrid>
                <a:gridCol w="6591154">
                  <a:extLst>
                    <a:ext uri="{9D8B030D-6E8A-4147-A177-3AD203B41FA5}">
                      <a16:colId xmlns:a16="http://schemas.microsoft.com/office/drawing/2014/main" val="3218896003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71755" marR="254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600" b="1" kern="100" dirty="0">
                          <a:effectLst/>
                        </a:rPr>
                        <a:t>Hardware components </a:t>
                      </a:r>
                      <a:endParaRPr lang="en-IN" sz="16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2161413630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marL="71755" marR="127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200" kern="100">
                          <a:effectLst/>
                        </a:rPr>
                        <a:t>Microcontroller – Arduino Uno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3999630208"/>
                  </a:ext>
                </a:extLst>
              </a:tr>
              <a:tr h="328689">
                <a:tc>
                  <a:txBody>
                    <a:bodyPr/>
                    <a:lstStyle/>
                    <a:p>
                      <a:pPr marL="71755" marR="63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>
                          <a:effectLst/>
                        </a:rPr>
                        <a:t>NRF24LO1</a:t>
                      </a:r>
                      <a:r>
                        <a:rPr lang="en-IN" sz="1200" kern="100">
                          <a:effectLst/>
                        </a:rPr>
                        <a:t>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165315152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71755" marR="10858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 dirty="0">
                          <a:effectLst/>
                        </a:rPr>
                        <a:t>Small Buzzer</a:t>
                      </a:r>
                      <a:r>
                        <a:rPr lang="en-IN" sz="1200" kern="100" dirty="0">
                          <a:effectLst/>
                        </a:rPr>
                        <a:t> 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28759109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71755" marR="127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 dirty="0">
                          <a:effectLst/>
                        </a:rPr>
                        <a:t>Li ion batteries 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402292937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1270" marR="10858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>
                          <a:effectLst/>
                        </a:rPr>
                        <a:t>TP4056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312565261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71755" marR="3746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>
                          <a:effectLst/>
                        </a:rPr>
                        <a:t>MQ2 Smoke Sensor Module 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15954196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635" marR="10858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100" kern="100" dirty="0">
                          <a:effectLst/>
                        </a:rPr>
                        <a:t>16x2 LCD Display with I2C interface – Blue 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025" marR="73025" marT="8890" marB="0"/>
                </a:tc>
                <a:extLst>
                  <a:ext uri="{0D108BD9-81ED-4DB2-BD59-A6C34878D82A}">
                    <a16:rowId xmlns:a16="http://schemas.microsoft.com/office/drawing/2014/main" val="14808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82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B70311-26E1-AA91-16BA-BEF8A09C7010}"/>
              </a:ext>
            </a:extLst>
          </p:cNvPr>
          <p:cNvSpPr/>
          <p:nvPr/>
        </p:nvSpPr>
        <p:spPr>
          <a:xfrm>
            <a:off x="483546" y="1538868"/>
            <a:ext cx="6385605" cy="3212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C5C6C-E496-C632-9FB8-3B3731D1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grpSp>
        <p:nvGrpSpPr>
          <p:cNvPr id="17" name="Google Shape;545;p35">
            <a:extLst>
              <a:ext uri="{FF2B5EF4-FFF2-40B4-BE49-F238E27FC236}">
                <a16:creationId xmlns:a16="http://schemas.microsoft.com/office/drawing/2014/main" id="{BC2E3611-9FCD-022C-1D23-42969AE1306C}"/>
              </a:ext>
            </a:extLst>
          </p:cNvPr>
          <p:cNvGrpSpPr/>
          <p:nvPr/>
        </p:nvGrpSpPr>
        <p:grpSpPr>
          <a:xfrm>
            <a:off x="267223" y="610549"/>
            <a:ext cx="330270" cy="330251"/>
            <a:chOff x="1923675" y="1633650"/>
            <a:chExt cx="436000" cy="435975"/>
          </a:xfrm>
        </p:grpSpPr>
        <p:sp>
          <p:nvSpPr>
            <p:cNvPr id="18" name="Google Shape;546;p35">
              <a:extLst>
                <a:ext uri="{FF2B5EF4-FFF2-40B4-BE49-F238E27FC236}">
                  <a16:creationId xmlns:a16="http://schemas.microsoft.com/office/drawing/2014/main" id="{79DAF030-4C8A-24FB-F552-285694CB9707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547;p35">
              <a:extLst>
                <a:ext uri="{FF2B5EF4-FFF2-40B4-BE49-F238E27FC236}">
                  <a16:creationId xmlns:a16="http://schemas.microsoft.com/office/drawing/2014/main" id="{F84CE346-E0DC-570F-2AC5-B6205B7D6B01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548;p35">
              <a:extLst>
                <a:ext uri="{FF2B5EF4-FFF2-40B4-BE49-F238E27FC236}">
                  <a16:creationId xmlns:a16="http://schemas.microsoft.com/office/drawing/2014/main" id="{9CE4AA98-11C7-969E-E9D5-7947745824D4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549;p35">
              <a:extLst>
                <a:ext uri="{FF2B5EF4-FFF2-40B4-BE49-F238E27FC236}">
                  <a16:creationId xmlns:a16="http://schemas.microsoft.com/office/drawing/2014/main" id="{D6918844-BA37-316D-1A7C-1B844495DE4C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50;p35">
              <a:extLst>
                <a:ext uri="{FF2B5EF4-FFF2-40B4-BE49-F238E27FC236}">
                  <a16:creationId xmlns:a16="http://schemas.microsoft.com/office/drawing/2014/main" id="{B1D8A164-7F1D-85FF-3CF4-6C8A648EE69D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551;p35">
              <a:extLst>
                <a:ext uri="{FF2B5EF4-FFF2-40B4-BE49-F238E27FC236}">
                  <a16:creationId xmlns:a16="http://schemas.microsoft.com/office/drawing/2014/main" id="{ED2733E9-D9D9-54FD-68D0-04F273D81452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0F34D40-6772-5B31-71B5-37F096B07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5BED4-D101-5771-C04C-0A63239F163E}"/>
              </a:ext>
            </a:extLst>
          </p:cNvPr>
          <p:cNvSpPr/>
          <p:nvPr/>
        </p:nvSpPr>
        <p:spPr>
          <a:xfrm>
            <a:off x="2869580" y="1828800"/>
            <a:ext cx="1576040" cy="76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Supply</a:t>
            </a:r>
          </a:p>
          <a:p>
            <a:pPr algn="ctr"/>
            <a:r>
              <a:rPr lang="en-IN" dirty="0"/>
              <a:t>(3.7V Li-ion Batteries X2)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0A31A-CF44-D102-3040-9654B4FD79F3}"/>
              </a:ext>
            </a:extLst>
          </p:cNvPr>
          <p:cNvSpPr/>
          <p:nvPr/>
        </p:nvSpPr>
        <p:spPr>
          <a:xfrm>
            <a:off x="2869580" y="3092605"/>
            <a:ext cx="1576040" cy="10705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Microcontroller Development Board</a:t>
            </a:r>
          </a:p>
          <a:p>
            <a:pPr algn="ctr"/>
            <a:r>
              <a:rPr lang="en-IN" dirty="0"/>
              <a:t>(Arduino Nano)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160E8-AE75-DA5B-DF3A-74915EDC5923}"/>
              </a:ext>
            </a:extLst>
          </p:cNvPr>
          <p:cNvSpPr/>
          <p:nvPr/>
        </p:nvSpPr>
        <p:spPr>
          <a:xfrm>
            <a:off x="917162" y="3118624"/>
            <a:ext cx="1372556" cy="1018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Smoke Sensor</a:t>
            </a:r>
          </a:p>
          <a:p>
            <a:pPr algn="ctr"/>
            <a:r>
              <a:rPr lang="en-IN" dirty="0"/>
              <a:t>(MQ2)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47C91-55EB-943D-6BF5-E0DAF6691327}"/>
              </a:ext>
            </a:extLst>
          </p:cNvPr>
          <p:cNvSpPr/>
          <p:nvPr/>
        </p:nvSpPr>
        <p:spPr>
          <a:xfrm>
            <a:off x="5025482" y="3077736"/>
            <a:ext cx="1372556" cy="1018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WiFi</a:t>
            </a:r>
            <a:r>
              <a:rPr lang="en-IN" dirty="0"/>
              <a:t> Module</a:t>
            </a:r>
          </a:p>
          <a:p>
            <a:pPr algn="ctr"/>
            <a:r>
              <a:rPr lang="en-IN" dirty="0"/>
              <a:t>(nRF24 L01)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0DD18-76CE-0F67-10F2-7364C242E99A}"/>
              </a:ext>
            </a:extLst>
          </p:cNvPr>
          <p:cNvSpPr txBox="1"/>
          <p:nvPr/>
        </p:nvSpPr>
        <p:spPr>
          <a:xfrm>
            <a:off x="1854982" y="4290125"/>
            <a:ext cx="3642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Transmitter Node with Smoke Detector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A383B23-A742-FDF2-5BE7-989E8355091B}"/>
              </a:ext>
            </a:extLst>
          </p:cNvPr>
          <p:cNvSpPr/>
          <p:nvPr/>
        </p:nvSpPr>
        <p:spPr>
          <a:xfrm>
            <a:off x="3560475" y="2661424"/>
            <a:ext cx="164032" cy="3136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CBB301F-7152-C138-6229-B22027A7F2CA}"/>
              </a:ext>
            </a:extLst>
          </p:cNvPr>
          <p:cNvSpPr/>
          <p:nvPr/>
        </p:nvSpPr>
        <p:spPr>
          <a:xfrm rot="16200000">
            <a:off x="2500567" y="3417966"/>
            <a:ext cx="178421" cy="338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76BF26A0-1DB9-F6A9-32FC-6BBEA1CBBA9D}"/>
              </a:ext>
            </a:extLst>
          </p:cNvPr>
          <p:cNvSpPr/>
          <p:nvPr/>
        </p:nvSpPr>
        <p:spPr>
          <a:xfrm>
            <a:off x="4538546" y="3497763"/>
            <a:ext cx="394010" cy="17842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6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B70311-26E1-AA91-16BA-BEF8A09C7010}"/>
              </a:ext>
            </a:extLst>
          </p:cNvPr>
          <p:cNvSpPr/>
          <p:nvPr/>
        </p:nvSpPr>
        <p:spPr>
          <a:xfrm>
            <a:off x="483546" y="1538868"/>
            <a:ext cx="6385605" cy="3212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C5C6C-E496-C632-9FB8-3B3731D1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grpSp>
        <p:nvGrpSpPr>
          <p:cNvPr id="17" name="Google Shape;545;p35">
            <a:extLst>
              <a:ext uri="{FF2B5EF4-FFF2-40B4-BE49-F238E27FC236}">
                <a16:creationId xmlns:a16="http://schemas.microsoft.com/office/drawing/2014/main" id="{BC2E3611-9FCD-022C-1D23-42969AE1306C}"/>
              </a:ext>
            </a:extLst>
          </p:cNvPr>
          <p:cNvGrpSpPr/>
          <p:nvPr/>
        </p:nvGrpSpPr>
        <p:grpSpPr>
          <a:xfrm>
            <a:off x="267223" y="610549"/>
            <a:ext cx="330270" cy="330251"/>
            <a:chOff x="1923675" y="1633650"/>
            <a:chExt cx="436000" cy="435975"/>
          </a:xfrm>
        </p:grpSpPr>
        <p:sp>
          <p:nvSpPr>
            <p:cNvPr id="18" name="Google Shape;546;p35">
              <a:extLst>
                <a:ext uri="{FF2B5EF4-FFF2-40B4-BE49-F238E27FC236}">
                  <a16:creationId xmlns:a16="http://schemas.microsoft.com/office/drawing/2014/main" id="{79DAF030-4C8A-24FB-F552-285694CB9707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547;p35">
              <a:extLst>
                <a:ext uri="{FF2B5EF4-FFF2-40B4-BE49-F238E27FC236}">
                  <a16:creationId xmlns:a16="http://schemas.microsoft.com/office/drawing/2014/main" id="{F84CE346-E0DC-570F-2AC5-B6205B7D6B01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548;p35">
              <a:extLst>
                <a:ext uri="{FF2B5EF4-FFF2-40B4-BE49-F238E27FC236}">
                  <a16:creationId xmlns:a16="http://schemas.microsoft.com/office/drawing/2014/main" id="{9CE4AA98-11C7-969E-E9D5-7947745824D4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549;p35">
              <a:extLst>
                <a:ext uri="{FF2B5EF4-FFF2-40B4-BE49-F238E27FC236}">
                  <a16:creationId xmlns:a16="http://schemas.microsoft.com/office/drawing/2014/main" id="{D6918844-BA37-316D-1A7C-1B844495DE4C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50;p35">
              <a:extLst>
                <a:ext uri="{FF2B5EF4-FFF2-40B4-BE49-F238E27FC236}">
                  <a16:creationId xmlns:a16="http://schemas.microsoft.com/office/drawing/2014/main" id="{B1D8A164-7F1D-85FF-3CF4-6C8A648EE69D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551;p35">
              <a:extLst>
                <a:ext uri="{FF2B5EF4-FFF2-40B4-BE49-F238E27FC236}">
                  <a16:creationId xmlns:a16="http://schemas.microsoft.com/office/drawing/2014/main" id="{ED2733E9-D9D9-54FD-68D0-04F273D81452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0F34D40-6772-5B31-71B5-37F096B07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5BED4-D101-5771-C04C-0A63239F163E}"/>
              </a:ext>
            </a:extLst>
          </p:cNvPr>
          <p:cNvSpPr/>
          <p:nvPr/>
        </p:nvSpPr>
        <p:spPr>
          <a:xfrm>
            <a:off x="814275" y="2586618"/>
            <a:ext cx="1495700" cy="1044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Supply</a:t>
            </a:r>
          </a:p>
          <a:p>
            <a:pPr algn="ctr"/>
            <a:r>
              <a:rPr lang="en-IN" dirty="0"/>
              <a:t>(3.7V Li-ion Batteries X2)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0A31A-CF44-D102-3040-9654B4FD79F3}"/>
              </a:ext>
            </a:extLst>
          </p:cNvPr>
          <p:cNvSpPr/>
          <p:nvPr/>
        </p:nvSpPr>
        <p:spPr>
          <a:xfrm>
            <a:off x="2869580" y="2586619"/>
            <a:ext cx="1576040" cy="10705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Microcontroller Development Board</a:t>
            </a:r>
          </a:p>
          <a:p>
            <a:pPr algn="ctr"/>
            <a:r>
              <a:rPr lang="en-IN" dirty="0"/>
              <a:t>(Arduino Nano)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47C91-55EB-943D-6BF5-E0DAF6691327}"/>
              </a:ext>
            </a:extLst>
          </p:cNvPr>
          <p:cNvSpPr/>
          <p:nvPr/>
        </p:nvSpPr>
        <p:spPr>
          <a:xfrm>
            <a:off x="5025482" y="2571750"/>
            <a:ext cx="1372556" cy="1018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WiFi</a:t>
            </a:r>
            <a:r>
              <a:rPr lang="en-IN" dirty="0"/>
              <a:t> Module</a:t>
            </a:r>
          </a:p>
          <a:p>
            <a:pPr algn="ctr"/>
            <a:r>
              <a:rPr lang="en-IN" dirty="0"/>
              <a:t>(nRF24 L01)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0DD18-76CE-0F67-10F2-7364C242E99A}"/>
              </a:ext>
            </a:extLst>
          </p:cNvPr>
          <p:cNvSpPr txBox="1"/>
          <p:nvPr/>
        </p:nvSpPr>
        <p:spPr>
          <a:xfrm>
            <a:off x="2020560" y="4199838"/>
            <a:ext cx="3311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Hopper Node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CBB301F-7152-C138-6229-B22027A7F2CA}"/>
              </a:ext>
            </a:extLst>
          </p:cNvPr>
          <p:cNvSpPr/>
          <p:nvPr/>
        </p:nvSpPr>
        <p:spPr>
          <a:xfrm rot="16200000">
            <a:off x="2500567" y="2911980"/>
            <a:ext cx="178421" cy="338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76BF26A0-1DB9-F6A9-32FC-6BBEA1CBBA9D}"/>
              </a:ext>
            </a:extLst>
          </p:cNvPr>
          <p:cNvSpPr/>
          <p:nvPr/>
        </p:nvSpPr>
        <p:spPr>
          <a:xfrm>
            <a:off x="4538546" y="2991777"/>
            <a:ext cx="394010" cy="17842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9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B70311-26E1-AA91-16BA-BEF8A09C7010}"/>
              </a:ext>
            </a:extLst>
          </p:cNvPr>
          <p:cNvSpPr/>
          <p:nvPr/>
        </p:nvSpPr>
        <p:spPr>
          <a:xfrm>
            <a:off x="483546" y="1538868"/>
            <a:ext cx="6385605" cy="32120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C5C6C-E496-C632-9FB8-3B3731D1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grpSp>
        <p:nvGrpSpPr>
          <p:cNvPr id="17" name="Google Shape;545;p35">
            <a:extLst>
              <a:ext uri="{FF2B5EF4-FFF2-40B4-BE49-F238E27FC236}">
                <a16:creationId xmlns:a16="http://schemas.microsoft.com/office/drawing/2014/main" id="{BC2E3611-9FCD-022C-1D23-42969AE1306C}"/>
              </a:ext>
            </a:extLst>
          </p:cNvPr>
          <p:cNvGrpSpPr/>
          <p:nvPr/>
        </p:nvGrpSpPr>
        <p:grpSpPr>
          <a:xfrm>
            <a:off x="267223" y="610549"/>
            <a:ext cx="330270" cy="330251"/>
            <a:chOff x="1923675" y="1633650"/>
            <a:chExt cx="436000" cy="435975"/>
          </a:xfrm>
        </p:grpSpPr>
        <p:sp>
          <p:nvSpPr>
            <p:cNvPr id="18" name="Google Shape;546;p35">
              <a:extLst>
                <a:ext uri="{FF2B5EF4-FFF2-40B4-BE49-F238E27FC236}">
                  <a16:creationId xmlns:a16="http://schemas.microsoft.com/office/drawing/2014/main" id="{79DAF030-4C8A-24FB-F552-285694CB9707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547;p35">
              <a:extLst>
                <a:ext uri="{FF2B5EF4-FFF2-40B4-BE49-F238E27FC236}">
                  <a16:creationId xmlns:a16="http://schemas.microsoft.com/office/drawing/2014/main" id="{F84CE346-E0DC-570F-2AC5-B6205B7D6B01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548;p35">
              <a:extLst>
                <a:ext uri="{FF2B5EF4-FFF2-40B4-BE49-F238E27FC236}">
                  <a16:creationId xmlns:a16="http://schemas.microsoft.com/office/drawing/2014/main" id="{9CE4AA98-11C7-969E-E9D5-7947745824D4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549;p35">
              <a:extLst>
                <a:ext uri="{FF2B5EF4-FFF2-40B4-BE49-F238E27FC236}">
                  <a16:creationId xmlns:a16="http://schemas.microsoft.com/office/drawing/2014/main" id="{D6918844-BA37-316D-1A7C-1B844495DE4C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50;p35">
              <a:extLst>
                <a:ext uri="{FF2B5EF4-FFF2-40B4-BE49-F238E27FC236}">
                  <a16:creationId xmlns:a16="http://schemas.microsoft.com/office/drawing/2014/main" id="{B1D8A164-7F1D-85FF-3CF4-6C8A648EE69D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551;p35">
              <a:extLst>
                <a:ext uri="{FF2B5EF4-FFF2-40B4-BE49-F238E27FC236}">
                  <a16:creationId xmlns:a16="http://schemas.microsoft.com/office/drawing/2014/main" id="{ED2733E9-D9D9-54FD-68D0-04F273D81452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0F34D40-6772-5B31-71B5-37F096B07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5BED4-D101-5771-C04C-0A63239F163E}"/>
              </a:ext>
            </a:extLst>
          </p:cNvPr>
          <p:cNvSpPr/>
          <p:nvPr/>
        </p:nvSpPr>
        <p:spPr>
          <a:xfrm>
            <a:off x="2869580" y="1828800"/>
            <a:ext cx="1576040" cy="76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Supply</a:t>
            </a:r>
          </a:p>
          <a:p>
            <a:pPr algn="ctr"/>
            <a:r>
              <a:rPr lang="en-IN" dirty="0"/>
              <a:t>(3.7V Li-ion Batteries X2)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0A31A-CF44-D102-3040-9654B4FD79F3}"/>
              </a:ext>
            </a:extLst>
          </p:cNvPr>
          <p:cNvSpPr/>
          <p:nvPr/>
        </p:nvSpPr>
        <p:spPr>
          <a:xfrm>
            <a:off x="2869580" y="3092605"/>
            <a:ext cx="1576040" cy="10705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Microcontroller Development Board</a:t>
            </a:r>
          </a:p>
          <a:p>
            <a:pPr algn="ctr"/>
            <a:r>
              <a:rPr lang="en-IN" dirty="0"/>
              <a:t>(Arduino Nano)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160E8-AE75-DA5B-DF3A-74915EDC5923}"/>
              </a:ext>
            </a:extLst>
          </p:cNvPr>
          <p:cNvSpPr/>
          <p:nvPr/>
        </p:nvSpPr>
        <p:spPr>
          <a:xfrm>
            <a:off x="917162" y="3118624"/>
            <a:ext cx="1372556" cy="1018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Alarm</a:t>
            </a:r>
          </a:p>
          <a:p>
            <a:pPr algn="ctr"/>
            <a:r>
              <a:rPr lang="en-IN" dirty="0"/>
              <a:t>(Piezoelectric Buzzer)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47C91-55EB-943D-6BF5-E0DAF6691327}"/>
              </a:ext>
            </a:extLst>
          </p:cNvPr>
          <p:cNvSpPr/>
          <p:nvPr/>
        </p:nvSpPr>
        <p:spPr>
          <a:xfrm>
            <a:off x="5025482" y="3077736"/>
            <a:ext cx="1372556" cy="1018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Display</a:t>
            </a:r>
          </a:p>
          <a:p>
            <a:pPr algn="ctr"/>
            <a:r>
              <a:rPr lang="en-IN" dirty="0"/>
              <a:t>(16x2 LCD)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0DD18-76CE-0F67-10F2-7364C242E99A}"/>
              </a:ext>
            </a:extLst>
          </p:cNvPr>
          <p:cNvSpPr txBox="1"/>
          <p:nvPr/>
        </p:nvSpPr>
        <p:spPr>
          <a:xfrm>
            <a:off x="1854982" y="4290125"/>
            <a:ext cx="3642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Display Node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A383B23-A742-FDF2-5BE7-989E8355091B}"/>
              </a:ext>
            </a:extLst>
          </p:cNvPr>
          <p:cNvSpPr/>
          <p:nvPr/>
        </p:nvSpPr>
        <p:spPr>
          <a:xfrm>
            <a:off x="3560475" y="2661424"/>
            <a:ext cx="164032" cy="3136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CBB301F-7152-C138-6229-B22027A7F2CA}"/>
              </a:ext>
            </a:extLst>
          </p:cNvPr>
          <p:cNvSpPr/>
          <p:nvPr/>
        </p:nvSpPr>
        <p:spPr>
          <a:xfrm rot="5400000">
            <a:off x="2500567" y="3417966"/>
            <a:ext cx="178421" cy="338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D42DB8C-B40D-D117-E8C1-B8DA7FB79A23}"/>
              </a:ext>
            </a:extLst>
          </p:cNvPr>
          <p:cNvSpPr/>
          <p:nvPr/>
        </p:nvSpPr>
        <p:spPr>
          <a:xfrm rot="16200000">
            <a:off x="4654492" y="3417966"/>
            <a:ext cx="178421" cy="338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747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5C6C-E496-C632-9FB8-3B3731D1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grpSp>
        <p:nvGrpSpPr>
          <p:cNvPr id="17" name="Google Shape;545;p35">
            <a:extLst>
              <a:ext uri="{FF2B5EF4-FFF2-40B4-BE49-F238E27FC236}">
                <a16:creationId xmlns:a16="http://schemas.microsoft.com/office/drawing/2014/main" id="{BC2E3611-9FCD-022C-1D23-42969AE1306C}"/>
              </a:ext>
            </a:extLst>
          </p:cNvPr>
          <p:cNvGrpSpPr/>
          <p:nvPr/>
        </p:nvGrpSpPr>
        <p:grpSpPr>
          <a:xfrm>
            <a:off x="267223" y="610549"/>
            <a:ext cx="330270" cy="330251"/>
            <a:chOff x="1923675" y="1633650"/>
            <a:chExt cx="436000" cy="435975"/>
          </a:xfrm>
        </p:grpSpPr>
        <p:sp>
          <p:nvSpPr>
            <p:cNvPr id="18" name="Google Shape;546;p35">
              <a:extLst>
                <a:ext uri="{FF2B5EF4-FFF2-40B4-BE49-F238E27FC236}">
                  <a16:creationId xmlns:a16="http://schemas.microsoft.com/office/drawing/2014/main" id="{79DAF030-4C8A-24FB-F552-285694CB9707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547;p35">
              <a:extLst>
                <a:ext uri="{FF2B5EF4-FFF2-40B4-BE49-F238E27FC236}">
                  <a16:creationId xmlns:a16="http://schemas.microsoft.com/office/drawing/2014/main" id="{F84CE346-E0DC-570F-2AC5-B6205B7D6B01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548;p35">
              <a:extLst>
                <a:ext uri="{FF2B5EF4-FFF2-40B4-BE49-F238E27FC236}">
                  <a16:creationId xmlns:a16="http://schemas.microsoft.com/office/drawing/2014/main" id="{9CE4AA98-11C7-969E-E9D5-7947745824D4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549;p35">
              <a:extLst>
                <a:ext uri="{FF2B5EF4-FFF2-40B4-BE49-F238E27FC236}">
                  <a16:creationId xmlns:a16="http://schemas.microsoft.com/office/drawing/2014/main" id="{D6918844-BA37-316D-1A7C-1B844495DE4C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50;p35">
              <a:extLst>
                <a:ext uri="{FF2B5EF4-FFF2-40B4-BE49-F238E27FC236}">
                  <a16:creationId xmlns:a16="http://schemas.microsoft.com/office/drawing/2014/main" id="{B1D8A164-7F1D-85FF-3CF4-6C8A648EE69D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551;p35">
              <a:extLst>
                <a:ext uri="{FF2B5EF4-FFF2-40B4-BE49-F238E27FC236}">
                  <a16:creationId xmlns:a16="http://schemas.microsoft.com/office/drawing/2014/main" id="{ED2733E9-D9D9-54FD-68D0-04F273D81452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0F34D40-6772-5B31-71B5-37F096B07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BAC772-CDDF-2DAC-C364-8EDEAB194660}"/>
              </a:ext>
            </a:extLst>
          </p:cNvPr>
          <p:cNvSpPr/>
          <p:nvPr/>
        </p:nvSpPr>
        <p:spPr>
          <a:xfrm>
            <a:off x="1219201" y="1481246"/>
            <a:ext cx="2118731" cy="7211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Transmitter Node</a:t>
            </a:r>
          </a:p>
          <a:p>
            <a:pPr algn="ctr"/>
            <a:r>
              <a:rPr lang="en-IN" b="1" dirty="0"/>
              <a:t>At Location 1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F0E3C6-FD63-6FA6-C068-90365F6EB117}"/>
              </a:ext>
            </a:extLst>
          </p:cNvPr>
          <p:cNvSpPr/>
          <p:nvPr/>
        </p:nvSpPr>
        <p:spPr>
          <a:xfrm>
            <a:off x="3337932" y="2607529"/>
            <a:ext cx="1977483" cy="4683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Hopper Node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4FA904-21C7-0C8B-B15C-16221480888A}"/>
              </a:ext>
            </a:extLst>
          </p:cNvPr>
          <p:cNvSpPr/>
          <p:nvPr/>
        </p:nvSpPr>
        <p:spPr>
          <a:xfrm>
            <a:off x="3337932" y="3602753"/>
            <a:ext cx="1977483" cy="4683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Hopper Node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0D7D36-C0F9-F06D-37AC-15FF01C806D2}"/>
              </a:ext>
            </a:extLst>
          </p:cNvPr>
          <p:cNvSpPr/>
          <p:nvPr/>
        </p:nvSpPr>
        <p:spPr>
          <a:xfrm>
            <a:off x="3337932" y="4479982"/>
            <a:ext cx="1977483" cy="4683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Display Node</a:t>
            </a:r>
          </a:p>
          <a:p>
            <a:pPr algn="ctr"/>
            <a:r>
              <a:rPr lang="en-IN" dirty="0"/>
              <a:t>                   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8B48B9-DAE7-FC16-19F3-8E0EB9412AAD}"/>
              </a:ext>
            </a:extLst>
          </p:cNvPr>
          <p:cNvSpPr/>
          <p:nvPr/>
        </p:nvSpPr>
        <p:spPr>
          <a:xfrm>
            <a:off x="5315415" y="1472887"/>
            <a:ext cx="2118731" cy="72111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Transmitter Node</a:t>
            </a:r>
          </a:p>
          <a:p>
            <a:pPr algn="ctr"/>
            <a:r>
              <a:rPr lang="en-IN" b="1" dirty="0"/>
              <a:t>At Location 2</a:t>
            </a:r>
          </a:p>
          <a:p>
            <a:pPr algn="ctr"/>
            <a:endParaRPr lang="en-IN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A9B9F88-1CDB-A26B-EB9A-C292932DB997}"/>
              </a:ext>
            </a:extLst>
          </p:cNvPr>
          <p:cNvCxnSpPr>
            <a:stCxn id="3" idx="2"/>
            <a:endCxn id="6" idx="1"/>
          </p:cNvCxnSpPr>
          <p:nvPr/>
        </p:nvCxnSpPr>
        <p:spPr>
          <a:xfrm rot="16200000" flipH="1">
            <a:off x="2488575" y="1992348"/>
            <a:ext cx="639348" cy="10593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1A571B8-8E27-7FF6-1C65-2E5A8CC4EACD}"/>
              </a:ext>
            </a:extLst>
          </p:cNvPr>
          <p:cNvCxnSpPr>
            <a:stCxn id="13" idx="2"/>
            <a:endCxn id="6" idx="3"/>
          </p:cNvCxnSpPr>
          <p:nvPr/>
        </p:nvCxnSpPr>
        <p:spPr>
          <a:xfrm rot="5400000">
            <a:off x="5521245" y="1988168"/>
            <a:ext cx="647707" cy="1059366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8DF58A9-EEEF-209E-851C-487DF2A99589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4063238" y="3339316"/>
            <a:ext cx="526873" cy="12700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9D92503-2036-4BE0-124A-E029771CB33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326674" y="4071104"/>
            <a:ext cx="0" cy="4088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C14BC25-2936-D415-C147-7E5D616A904E}"/>
              </a:ext>
            </a:extLst>
          </p:cNvPr>
          <p:cNvSpPr/>
          <p:nvPr/>
        </p:nvSpPr>
        <p:spPr>
          <a:xfrm>
            <a:off x="2115879" y="2987749"/>
            <a:ext cx="601919" cy="212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A1B6EAD-E738-EC1A-3456-91572C3EDD2E}"/>
              </a:ext>
            </a:extLst>
          </p:cNvPr>
          <p:cNvSpPr/>
          <p:nvPr/>
        </p:nvSpPr>
        <p:spPr>
          <a:xfrm flipH="1">
            <a:off x="5881258" y="3015155"/>
            <a:ext cx="651239" cy="212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D9450054-B736-8950-F854-2ACB00EBB172}"/>
              </a:ext>
            </a:extLst>
          </p:cNvPr>
          <p:cNvSpPr/>
          <p:nvPr/>
        </p:nvSpPr>
        <p:spPr>
          <a:xfrm>
            <a:off x="4498600" y="3200400"/>
            <a:ext cx="73400" cy="2806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CC71C354-6471-DF66-B2FE-885B05ED9ABB}"/>
              </a:ext>
            </a:extLst>
          </p:cNvPr>
          <p:cNvSpPr/>
          <p:nvPr/>
        </p:nvSpPr>
        <p:spPr>
          <a:xfrm>
            <a:off x="4535300" y="4132587"/>
            <a:ext cx="133155" cy="287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646A2A-37E1-91DB-4CBD-88636A3F7746}"/>
              </a:ext>
            </a:extLst>
          </p:cNvPr>
          <p:cNvSpPr txBox="1"/>
          <p:nvPr/>
        </p:nvSpPr>
        <p:spPr>
          <a:xfrm>
            <a:off x="1014638" y="2356306"/>
            <a:ext cx="15391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Wireless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81533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44EA-77F6-80BE-7073-FA36AABE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3324E-8551-62BC-603D-E3EF2486D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720257"/>
            <a:ext cx="6132600" cy="3145500"/>
          </a:xfrm>
        </p:spPr>
        <p:txBody>
          <a:bodyPr/>
          <a:lstStyle/>
          <a:p>
            <a:r>
              <a:rPr lang="en-IN" sz="2000" dirty="0"/>
              <a:t>In this system the </a:t>
            </a:r>
            <a:r>
              <a:rPr lang="en-IN" sz="2000" dirty="0" err="1"/>
              <a:t>arduinos</a:t>
            </a:r>
            <a:r>
              <a:rPr lang="en-IN" sz="2000" dirty="0"/>
              <a:t> are connected to each other through NRF24L01.</a:t>
            </a:r>
          </a:p>
          <a:p>
            <a:r>
              <a:rPr lang="en-IN" sz="2000" dirty="0"/>
              <a:t>The nodes are connected in a tree structure with one node as base node.</a:t>
            </a:r>
          </a:p>
          <a:p>
            <a:r>
              <a:rPr lang="en-IN" sz="2000" dirty="0"/>
              <a:t>The connection does not break even if one of the nodes fail or gets damaged.</a:t>
            </a:r>
          </a:p>
          <a:p>
            <a:r>
              <a:rPr lang="en-IN" sz="2000" dirty="0"/>
              <a:t>The system then alerts through a buzzer and shows the node at which emergency is required.</a:t>
            </a:r>
          </a:p>
          <a:p>
            <a:endParaRPr lang="en-IN" dirty="0"/>
          </a:p>
          <a:p>
            <a:endParaRPr lang="en-IN" dirty="0"/>
          </a:p>
        </p:txBody>
      </p:sp>
      <p:grpSp>
        <p:nvGrpSpPr>
          <p:cNvPr id="5" name="Google Shape;1018;p46">
            <a:extLst>
              <a:ext uri="{FF2B5EF4-FFF2-40B4-BE49-F238E27FC236}">
                <a16:creationId xmlns:a16="http://schemas.microsoft.com/office/drawing/2014/main" id="{C3A4BB9C-FCCF-B025-93A5-AE8C8318435C}"/>
              </a:ext>
            </a:extLst>
          </p:cNvPr>
          <p:cNvGrpSpPr/>
          <p:nvPr/>
        </p:nvGrpSpPr>
        <p:grpSpPr>
          <a:xfrm>
            <a:off x="225042" y="568121"/>
            <a:ext cx="491261" cy="415107"/>
            <a:chOff x="5247525" y="3007275"/>
            <a:chExt cx="517575" cy="384825"/>
          </a:xfrm>
        </p:grpSpPr>
        <p:sp>
          <p:nvSpPr>
            <p:cNvPr id="6" name="Google Shape;1019;p46">
              <a:extLst>
                <a:ext uri="{FF2B5EF4-FFF2-40B4-BE49-F238E27FC236}">
                  <a16:creationId xmlns:a16="http://schemas.microsoft.com/office/drawing/2014/main" id="{0D9098F9-78A8-2E40-AE47-84E6B7FCB4EF}"/>
                </a:ext>
              </a:extLst>
            </p:cNvPr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020;p46">
              <a:extLst>
                <a:ext uri="{FF2B5EF4-FFF2-40B4-BE49-F238E27FC236}">
                  <a16:creationId xmlns:a16="http://schemas.microsoft.com/office/drawing/2014/main" id="{9D402F0B-4C19-19EF-B85D-2278D2D176F4}"/>
                </a:ext>
              </a:extLst>
            </p:cNvPr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A7D904-472B-BD68-5924-0D1A65B0BA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17476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F780-E17D-140C-E0C4-E7E91F53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EA19E-C455-0C87-DF68-E9EDAED0B2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48FC96-D995-7BBE-48CD-E9D6992FA8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0923" y="2091366"/>
            <a:ext cx="2276965" cy="1420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9104E5-8B13-109B-052B-8B70C2C6C3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39430" y="2091366"/>
            <a:ext cx="2498651" cy="1420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26B6D2-46DB-B718-EFAF-08EEAAE1CDD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96111" y="1998921"/>
            <a:ext cx="2276967" cy="160534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8CE357-DE18-93A4-9C78-648A2001602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2573078" y="2801595"/>
            <a:ext cx="76635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3FEA4E-B8CD-3C21-56E9-C2BA75655507}"/>
              </a:ext>
            </a:extLst>
          </p:cNvPr>
          <p:cNvCxnSpPr/>
          <p:nvPr/>
        </p:nvCxnSpPr>
        <p:spPr>
          <a:xfrm flipH="1" flipV="1">
            <a:off x="7878726" y="1998921"/>
            <a:ext cx="308344" cy="733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818771-FDBC-54B1-8A72-EAA24D1F88C5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5838081" y="2801595"/>
            <a:ext cx="732842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FC030E-384B-C805-43C6-03EB7D185840}"/>
              </a:ext>
            </a:extLst>
          </p:cNvPr>
          <p:cNvSpPr txBox="1"/>
          <p:nvPr/>
        </p:nvSpPr>
        <p:spPr>
          <a:xfrm>
            <a:off x="-1113761" y="3698213"/>
            <a:ext cx="457731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7575" marR="226695" indent="-6350" algn="ctr">
              <a:lnSpc>
                <a:spcPct val="107000"/>
              </a:lnSpc>
              <a:spcAft>
                <a:spcPts val="15"/>
              </a:spcAft>
            </a:pPr>
            <a:r>
              <a:rPr lang="en-IN" sz="14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Smoke Detector Node </a:t>
            </a:r>
            <a:endParaRPr lang="en-IN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49AAE1-E951-1850-6BEE-508295DE3541}"/>
              </a:ext>
            </a:extLst>
          </p:cNvPr>
          <p:cNvSpPr txBox="1"/>
          <p:nvPr/>
        </p:nvSpPr>
        <p:spPr>
          <a:xfrm>
            <a:off x="3270318" y="3659669"/>
            <a:ext cx="5135526" cy="30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2625" marR="108585" indent="-6350" algn="l">
              <a:lnSpc>
                <a:spcPct val="105000"/>
              </a:lnSpc>
              <a:spcAft>
                <a:spcPts val="20"/>
              </a:spcAft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Hopper Node </a:t>
            </a:r>
            <a:endParaRPr lang="en-IN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B179C1-83AD-BCD0-3251-8F1C1AE65973}"/>
              </a:ext>
            </a:extLst>
          </p:cNvPr>
          <p:cNvSpPr txBox="1"/>
          <p:nvPr/>
        </p:nvSpPr>
        <p:spPr>
          <a:xfrm>
            <a:off x="6576237" y="3634077"/>
            <a:ext cx="5135526" cy="30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2625" marR="2395220" indent="-6350" algn="l">
              <a:lnSpc>
                <a:spcPct val="105000"/>
              </a:lnSpc>
              <a:spcAft>
                <a:spcPts val="20"/>
              </a:spcAft>
            </a:pPr>
            <a:r>
              <a:rPr lang="en-IN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 Panel </a:t>
            </a:r>
            <a:endParaRPr lang="en-IN" sz="20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38" name="Google Shape;545;p35">
            <a:extLst>
              <a:ext uri="{FF2B5EF4-FFF2-40B4-BE49-F238E27FC236}">
                <a16:creationId xmlns:a16="http://schemas.microsoft.com/office/drawing/2014/main" id="{726CEB0D-BFC0-2430-974B-C913F5E760AE}"/>
              </a:ext>
            </a:extLst>
          </p:cNvPr>
          <p:cNvGrpSpPr/>
          <p:nvPr/>
        </p:nvGrpSpPr>
        <p:grpSpPr>
          <a:xfrm>
            <a:off x="267223" y="610549"/>
            <a:ext cx="330270" cy="330251"/>
            <a:chOff x="1923675" y="1633650"/>
            <a:chExt cx="436000" cy="435975"/>
          </a:xfrm>
        </p:grpSpPr>
        <p:sp>
          <p:nvSpPr>
            <p:cNvPr id="39" name="Google Shape;546;p35">
              <a:extLst>
                <a:ext uri="{FF2B5EF4-FFF2-40B4-BE49-F238E27FC236}">
                  <a16:creationId xmlns:a16="http://schemas.microsoft.com/office/drawing/2014/main" id="{7F7707BC-8A47-FEFB-3FD3-65F8EB248845}"/>
                </a:ext>
              </a:extLst>
            </p:cNvPr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547;p35">
              <a:extLst>
                <a:ext uri="{FF2B5EF4-FFF2-40B4-BE49-F238E27FC236}">
                  <a16:creationId xmlns:a16="http://schemas.microsoft.com/office/drawing/2014/main" id="{B1B70095-2ED5-352E-F6CF-A08D5582D0F9}"/>
                </a:ext>
              </a:extLst>
            </p:cNvPr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548;p35">
              <a:extLst>
                <a:ext uri="{FF2B5EF4-FFF2-40B4-BE49-F238E27FC236}">
                  <a16:creationId xmlns:a16="http://schemas.microsoft.com/office/drawing/2014/main" id="{76B9F12F-0A30-A5E8-55BD-907AAC0748DB}"/>
                </a:ext>
              </a:extLst>
            </p:cNvPr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549;p35">
              <a:extLst>
                <a:ext uri="{FF2B5EF4-FFF2-40B4-BE49-F238E27FC236}">
                  <a16:creationId xmlns:a16="http://schemas.microsoft.com/office/drawing/2014/main" id="{BC524012-0E84-301F-C859-4F36F43FDD8B}"/>
                </a:ext>
              </a:extLst>
            </p:cNvPr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550;p35">
              <a:extLst>
                <a:ext uri="{FF2B5EF4-FFF2-40B4-BE49-F238E27FC236}">
                  <a16:creationId xmlns:a16="http://schemas.microsoft.com/office/drawing/2014/main" id="{DCE32BBB-E248-87BF-DABC-99E7459597E1}"/>
                </a:ext>
              </a:extLst>
            </p:cNvPr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551;p35">
              <a:extLst>
                <a:ext uri="{FF2B5EF4-FFF2-40B4-BE49-F238E27FC236}">
                  <a16:creationId xmlns:a16="http://schemas.microsoft.com/office/drawing/2014/main" id="{E8101444-9307-94BA-2E38-05F67E9008A4}"/>
                </a:ext>
              </a:extLst>
            </p:cNvPr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878176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A923-A037-8DD3-6131-A0EBDD98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Cost</a:t>
            </a:r>
          </a:p>
        </p:txBody>
      </p:sp>
      <p:pic>
        <p:nvPicPr>
          <p:cNvPr id="1026" name="Picture 2" descr="null">
            <a:extLst>
              <a:ext uri="{FF2B5EF4-FFF2-40B4-BE49-F238E27FC236}">
                <a16:creationId xmlns:a16="http://schemas.microsoft.com/office/drawing/2014/main" id="{ABAE6801-721B-E69B-899E-B6D9B71CA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23" y="592565"/>
            <a:ext cx="253662" cy="373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5034E-471F-5B92-9EA0-F0A64FC7BA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92C182-729F-1C41-27D9-9559B2CE2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28230"/>
              </p:ext>
            </p:extLst>
          </p:nvPr>
        </p:nvGraphicFramePr>
        <p:xfrm>
          <a:off x="536783" y="1497382"/>
          <a:ext cx="6047384" cy="3468408"/>
        </p:xfrm>
        <a:graphic>
          <a:graphicData uri="http://schemas.openxmlformats.org/drawingml/2006/table">
            <a:tbl>
              <a:tblPr firstRow="1" firstCol="1" bandRow="1">
                <a:tableStyleId>{E27665BA-8202-44FC-AD62-C9F0E3EA811A}</a:tableStyleId>
              </a:tblPr>
              <a:tblGrid>
                <a:gridCol w="697677">
                  <a:extLst>
                    <a:ext uri="{9D8B030D-6E8A-4147-A177-3AD203B41FA5}">
                      <a16:colId xmlns:a16="http://schemas.microsoft.com/office/drawing/2014/main" val="2444747392"/>
                    </a:ext>
                  </a:extLst>
                </a:gridCol>
                <a:gridCol w="2337018">
                  <a:extLst>
                    <a:ext uri="{9D8B030D-6E8A-4147-A177-3AD203B41FA5}">
                      <a16:colId xmlns:a16="http://schemas.microsoft.com/office/drawing/2014/main" val="2304153884"/>
                    </a:ext>
                  </a:extLst>
                </a:gridCol>
                <a:gridCol w="1365580">
                  <a:extLst>
                    <a:ext uri="{9D8B030D-6E8A-4147-A177-3AD203B41FA5}">
                      <a16:colId xmlns:a16="http://schemas.microsoft.com/office/drawing/2014/main" val="659616639"/>
                    </a:ext>
                  </a:extLst>
                </a:gridCol>
                <a:gridCol w="1647109">
                  <a:extLst>
                    <a:ext uri="{9D8B030D-6E8A-4147-A177-3AD203B41FA5}">
                      <a16:colId xmlns:a16="http://schemas.microsoft.com/office/drawing/2014/main" val="4121690647"/>
                    </a:ext>
                  </a:extLst>
                </a:gridCol>
              </a:tblGrid>
              <a:tr h="329940">
                <a:tc>
                  <a:txBody>
                    <a:bodyPr/>
                    <a:lstStyle/>
                    <a:p>
                      <a:pPr marL="7175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Sr. No.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127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Component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No. of Units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508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Cost (INR)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1916997731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1.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Arduino Uno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2100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3494937183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2.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NRF24LO1 with antenna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725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803101841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3.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Small Buzzer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75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1479095027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4.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127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Li ion batteries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10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750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2862371434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5.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127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TP4056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1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45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4234702259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6.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Double battery sockets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5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150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3048647259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7.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Uno programming cable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2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80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4056934498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8.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18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Female – Male Jumper wires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25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200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1382840287"/>
                  </a:ext>
                </a:extLst>
              </a:tr>
              <a:tr h="21900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9.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127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MQ2 Smoke Sensor Module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2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160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3690399004"/>
                  </a:ext>
                </a:extLst>
              </a:tr>
              <a:tr h="359428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10. 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1260"/>
                        </a:spcAft>
                      </a:pPr>
                      <a:r>
                        <a:rPr lang="en-IN" sz="1050" kern="100">
                          <a:effectLst/>
                        </a:rPr>
                        <a:t>16 x 2 LCD Display with I2C </a:t>
                      </a:r>
                    </a:p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>
                          <a:effectLst/>
                        </a:rPr>
                        <a:t>interface - Blue </a:t>
                      </a: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4450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1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254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100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3522015579"/>
                  </a:ext>
                </a:extLst>
              </a:tr>
              <a:tr h="329940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11. 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240030" indent="-6350" algn="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Acrylic sheet (3 x 5 inches)</a:t>
                      </a: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108585" indent="-635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3395555538"/>
                  </a:ext>
                </a:extLst>
              </a:tr>
              <a:tr h="329940">
                <a:tc>
                  <a:txBody>
                    <a:bodyPr/>
                    <a:lstStyle/>
                    <a:p>
                      <a:pPr marL="225425" marR="108585" indent="-6350" algn="l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endParaRPr lang="en-IN" sz="105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240030" indent="-6350" algn="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Total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108585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50" kern="100" dirty="0">
                          <a:effectLst/>
                        </a:rPr>
                        <a:t> 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tc>
                  <a:txBody>
                    <a:bodyPr/>
                    <a:lstStyle/>
                    <a:p>
                      <a:pPr marL="71755" marR="43815" indent="-6350" algn="ctr">
                        <a:lnSpc>
                          <a:spcPct val="107000"/>
                        </a:lnSpc>
                        <a:spcAft>
                          <a:spcPts val="30"/>
                        </a:spcAft>
                      </a:pPr>
                      <a:r>
                        <a:rPr lang="en-IN" sz="1050" kern="100" dirty="0">
                          <a:effectLst/>
                        </a:rPr>
                        <a:t>4,535 </a:t>
                      </a:r>
                      <a:endParaRPr lang="en-IN" sz="105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7459" marR="51072" marT="5533" marB="0"/>
                </a:tc>
                <a:extLst>
                  <a:ext uri="{0D108BD9-81ED-4DB2-BD59-A6C34878D82A}">
                    <a16:rowId xmlns:a16="http://schemas.microsoft.com/office/drawing/2014/main" val="239503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35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FAF4-6FB9-58B3-EE7A-C0B5C6C2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0EC4C-199F-898E-0E3C-6B8419969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280" y="1341638"/>
            <a:ext cx="7489677" cy="3145500"/>
          </a:xfrm>
        </p:spPr>
        <p:txBody>
          <a:bodyPr/>
          <a:lstStyle/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/>
              <a:t>This project showcases a wireless fire safety system based on the Arduino Uno microcontroller, the NRF24L01 radio module, the TP4056 battery charger, and the MQ-2 smoke sensor module. The central processing unit is the Arduino Uno, which reads data from the smoke sensor and sounds an alert if a fire is detected. The NRF24L01 allows for wireless communication across numerous systems, resulting in a scalable network of sensors across a building or complex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BE499-C8D3-10D9-DE07-5966DC9A74D3}"/>
              </a:ext>
            </a:extLst>
          </p:cNvPr>
          <p:cNvSpPr txBox="1"/>
          <p:nvPr/>
        </p:nvSpPr>
        <p:spPr>
          <a:xfrm>
            <a:off x="181655" y="523813"/>
            <a:ext cx="4757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dirty="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📌</a:t>
            </a:r>
            <a:endParaRPr lang="en-IN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0AAC3-5928-A05A-5C80-63AC7B3149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12649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513A-275C-1F11-4BA9-A32E4B56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EA9FA-682D-5F3E-6A75-0E6794810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387" y="1924976"/>
            <a:ext cx="7993226" cy="2784118"/>
          </a:xfrm>
        </p:spPr>
        <p:txBody>
          <a:bodyPr/>
          <a:lstStyle/>
          <a:p>
            <a:r>
              <a:rPr lang="en-IN" sz="2000" dirty="0">
                <a:hlinkClick r:id="rId2"/>
              </a:rPr>
              <a:t>https://howtomechatronics.com</a:t>
            </a:r>
            <a:endParaRPr lang="en-IN" sz="2000" dirty="0"/>
          </a:p>
          <a:p>
            <a:r>
              <a:rPr lang="en-IN" sz="2000" dirty="0">
                <a:hlinkClick r:id="rId3"/>
              </a:rPr>
              <a:t>https://www.Arduino.cc</a:t>
            </a:r>
            <a:endParaRPr lang="en-IN" sz="2000" dirty="0"/>
          </a:p>
          <a:p>
            <a:r>
              <a:rPr lang="en-IN" sz="2000" dirty="0">
                <a:hlinkClick r:id="rId4"/>
              </a:rPr>
              <a:t>https://components101.com/wireless/nrf24l01-pinout-features-datasheet</a:t>
            </a:r>
            <a:endParaRPr lang="en-IN" sz="2000" dirty="0"/>
          </a:p>
          <a:p>
            <a:r>
              <a:rPr lang="en-IN" sz="2000" dirty="0">
                <a:hlinkClick r:id="rId5"/>
              </a:rPr>
              <a:t>https://components101.com/microcontrollers/arduino-uno</a:t>
            </a:r>
            <a:endParaRPr lang="en-IN" sz="2000" dirty="0"/>
          </a:p>
          <a:p>
            <a:r>
              <a:rPr lang="en-IN" sz="2000" dirty="0">
                <a:hlinkClick r:id="rId6"/>
              </a:rPr>
              <a:t>https://www.nordicsemi.com/Products/Technologies/Security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3D035-0FDC-5F1B-891E-ADB507546783}"/>
              </a:ext>
            </a:extLst>
          </p:cNvPr>
          <p:cNvSpPr txBox="1"/>
          <p:nvPr/>
        </p:nvSpPr>
        <p:spPr>
          <a:xfrm>
            <a:off x="100012" y="514065"/>
            <a:ext cx="4576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dirty="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📖</a:t>
            </a:r>
            <a:endParaRPr lang="en-IN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F5583-6836-723C-F845-9AA1283EE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73696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5"/>
                </a:solidFill>
              </a:rPr>
              <a:t>THANKS!</a:t>
            </a:r>
            <a:endParaRPr sz="6000" dirty="0">
              <a:solidFill>
                <a:schemeClr val="accent5"/>
              </a:solidFill>
            </a:endParaRPr>
          </a:p>
        </p:txBody>
      </p:sp>
      <p:grpSp>
        <p:nvGrpSpPr>
          <p:cNvPr id="526" name="Google Shape;526;p33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27" name="Google Shape;527;p33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7EDB4B-FED4-F0BC-A09B-1805EB61D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en" dirty="0"/>
          </a:p>
          <a:p>
            <a:endParaRPr lang="en" dirty="0"/>
          </a:p>
          <a:p>
            <a:endParaRPr lang="en" dirty="0"/>
          </a:p>
          <a:p>
            <a:fld id="{00000000-1234-1234-1234-123412341234}" type="slidenum">
              <a:rPr lang="en" sz="1000" smtClean="0">
                <a:solidFill>
                  <a:schemeClr val="tx1"/>
                </a:solidFill>
              </a:rPr>
              <a:pPr/>
              <a:t>17</a:t>
            </a:fld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821</Words>
  <Application>Microsoft Office PowerPoint</Application>
  <PresentationFormat>On-screen Show (16:9)</PresentationFormat>
  <Paragraphs>198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Arvo</vt:lpstr>
      <vt:lpstr>Arial</vt:lpstr>
      <vt:lpstr>Calibri</vt:lpstr>
      <vt:lpstr>Roboto Condensed Light</vt:lpstr>
      <vt:lpstr>Roboto Condensed</vt:lpstr>
      <vt:lpstr>Times New Roman</vt:lpstr>
      <vt:lpstr>Salerio template</vt:lpstr>
      <vt:lpstr>PowerPoint Presentation</vt:lpstr>
      <vt:lpstr>Industry Expert with whom Project proposal is discussed</vt:lpstr>
      <vt:lpstr>Introduction </vt:lpstr>
      <vt:lpstr>Usefulness of the Project</vt:lpstr>
      <vt:lpstr>Social impact of the Project</vt:lpstr>
      <vt:lpstr>Objectives defined for the project</vt:lpstr>
      <vt:lpstr>Resources Needed (Hardware and Software)</vt:lpstr>
      <vt:lpstr>Block Diagram</vt:lpstr>
      <vt:lpstr>Block Diagram</vt:lpstr>
      <vt:lpstr>Block Diagram</vt:lpstr>
      <vt:lpstr>Block Diagram</vt:lpstr>
      <vt:lpstr>Methodology</vt:lpstr>
      <vt:lpstr>RESULTS</vt:lpstr>
      <vt:lpstr>Project Cost</vt:lpstr>
      <vt:lpstr>Conclusion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Tejas Brid</dc:creator>
  <cp:lastModifiedBy>Shreyas Tukrul</cp:lastModifiedBy>
  <cp:revision>17</cp:revision>
  <dcterms:modified xsi:type="dcterms:W3CDTF">2024-05-04T07:13:21Z</dcterms:modified>
</cp:coreProperties>
</file>