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15"/>
  </p:notesMasterIdLst>
  <p:handoutMasterIdLst>
    <p:handoutMasterId r:id="rId16"/>
  </p:handoutMasterIdLst>
  <p:sldIdLst>
    <p:sldId id="256" r:id="rId2"/>
    <p:sldId id="257" r:id="rId3"/>
    <p:sldId id="295" r:id="rId4"/>
    <p:sldId id="297" r:id="rId5"/>
    <p:sldId id="298" r:id="rId6"/>
    <p:sldId id="299" r:id="rId7"/>
    <p:sldId id="300" r:id="rId8"/>
    <p:sldId id="306" r:id="rId9"/>
    <p:sldId id="307" r:id="rId10"/>
    <p:sldId id="308" r:id="rId11"/>
    <p:sldId id="311" r:id="rId12"/>
    <p:sldId id="312" r:id="rId13"/>
    <p:sldId id="278" r:id="rId14"/>
  </p:sldIdLst>
  <p:sldSz cx="9144000" cy="5143500" type="screen16x9"/>
  <p:notesSz cx="6858000" cy="9144000"/>
  <p:embeddedFontLst>
    <p:embeddedFont>
      <p:font typeface="Arvo" panose="020B0604020202020204" charset="0"/>
      <p:regular r:id="rId17"/>
      <p:bold r:id="rId18"/>
      <p:italic r:id="rId19"/>
      <p:boldItalic r:id="rId20"/>
    </p:embeddedFont>
    <p:embeddedFont>
      <p:font typeface="Roboto Condensed" panose="02000000000000000000" pitchFamily="2" charset="0"/>
      <p:regular r:id="rId21"/>
      <p:bold r:id="rId22"/>
      <p:italic r:id="rId23"/>
      <p:boldItalic r:id="rId24"/>
    </p:embeddedFont>
    <p:embeddedFont>
      <p:font typeface="Roboto Condensed Light"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7665BA-8202-44FC-AD62-C9F0E3EA811A}">
  <a:tblStyle styleId="{E27665BA-8202-44FC-AD62-C9F0E3EA811A}"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5DE48A-E3B5-44D0-98CB-AE0B3FDC037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p:scale>
          <a:sx n="100" d="100"/>
          <a:sy n="100" d="100"/>
        </p:scale>
        <p:origin x="1072" y="225"/>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A11249-6284-2F6C-06C5-EDEC7FCE0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90E4D81-27BF-3C2B-0F97-C3C007E769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25D6E4-DE3B-4D7D-98EF-D76591673441}" type="datetimeFigureOut">
              <a:rPr lang="en-IN" smtClean="0"/>
              <a:t>31-03-2024</a:t>
            </a:fld>
            <a:endParaRPr lang="en-IN"/>
          </a:p>
        </p:txBody>
      </p:sp>
      <p:sp>
        <p:nvSpPr>
          <p:cNvPr id="4" name="Footer Placeholder 3">
            <a:extLst>
              <a:ext uri="{FF2B5EF4-FFF2-40B4-BE49-F238E27FC236}">
                <a16:creationId xmlns:a16="http://schemas.microsoft.com/office/drawing/2014/main" id="{FFD3F0B2-B484-8085-4A95-D078F1F7FE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251E2B3-A71A-25ED-1A88-FDA758B61D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74F3FB-01A9-462F-B488-60C811B0E033}" type="slidenum">
              <a:rPr lang="en-IN" smtClean="0"/>
              <a:t>‹#›</a:t>
            </a:fld>
            <a:endParaRPr lang="en-IN"/>
          </a:p>
        </p:txBody>
      </p:sp>
    </p:spTree>
    <p:extLst>
      <p:ext uri="{BB962C8B-B14F-4D97-AF65-F5344CB8AC3E}">
        <p14:creationId xmlns:p14="http://schemas.microsoft.com/office/powerpoint/2010/main" val="32819157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26" name="Picture 25">
            <a:extLst>
              <a:ext uri="{FF2B5EF4-FFF2-40B4-BE49-F238E27FC236}">
                <a16:creationId xmlns:a16="http://schemas.microsoft.com/office/drawing/2014/main" id="{2007EAD5-24F1-6527-63FD-DFEF959CCA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48011" y="154153"/>
            <a:ext cx="1061720" cy="4000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6946842" y="4472723"/>
            <a:ext cx="2202830" cy="670795"/>
            <a:chOff x="5575242" y="4472723"/>
            <a:chExt cx="2202830" cy="670795"/>
          </a:xfrm>
        </p:grpSpPr>
        <p:sp>
          <p:nvSpPr>
            <p:cNvPr id="63" name="Google Shape;63;p5"/>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64" name="Google Shape;64;p5"/>
            <p:cNvGrpSpPr/>
            <p:nvPr/>
          </p:nvGrpSpPr>
          <p:grpSpPr>
            <a:xfrm flipH="1">
              <a:off x="5734850" y="4472723"/>
              <a:ext cx="2040837" cy="670795"/>
              <a:chOff x="1297954" y="330075"/>
              <a:chExt cx="5169293" cy="1699506"/>
            </a:xfrm>
          </p:grpSpPr>
          <p:sp>
            <p:nvSpPr>
              <p:cNvPr id="65" name="Google Shape;65;p5"/>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5"/>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7" name="Google Shape;67;p5"/>
            <p:cNvGrpSpPr/>
            <p:nvPr/>
          </p:nvGrpSpPr>
          <p:grpSpPr>
            <a:xfrm flipH="1">
              <a:off x="5578209" y="4646738"/>
              <a:ext cx="2199863" cy="304563"/>
              <a:chOff x="-5827153" y="330075"/>
              <a:chExt cx="12276019" cy="1699567"/>
            </a:xfrm>
          </p:grpSpPr>
          <p:sp>
            <p:nvSpPr>
              <p:cNvPr id="68" name="Google Shape;68;p5"/>
              <p:cNvSpPr/>
              <p:nvPr/>
            </p:nvSpPr>
            <p:spPr>
              <a:xfrm>
                <a:off x="-5827153" y="330142"/>
                <a:ext cx="10612202" cy="16995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1000" b="1" i="0" dirty="0">
                  <a:solidFill>
                    <a:schemeClr val="tx1">
                      <a:lumMod val="75000"/>
                    </a:schemeClr>
                  </a:solidFill>
                  <a:effectLst/>
                  <a:latin typeface="Roboto Condensed" panose="02000000000000000000" pitchFamily="2" charset="0"/>
                  <a:ea typeface="Roboto Condensed" panose="02000000000000000000" pitchFamily="2"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sz="200" b="1" i="0" dirty="0">
                  <a:solidFill>
                    <a:schemeClr val="bg1"/>
                  </a:solidFill>
                  <a:effectLst/>
                  <a:latin typeface="Roboto Condensed" panose="02000000000000000000" pitchFamily="2" charset="0"/>
                  <a:ea typeface="Roboto Condensed" panose="02000000000000000000" pitchFamily="2"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sz="200" b="1" i="0" dirty="0">
                  <a:solidFill>
                    <a:schemeClr val="bg1"/>
                  </a:solidFill>
                  <a:effectLst/>
                  <a:latin typeface="Roboto Condensed" panose="02000000000000000000" pitchFamily="2" charset="0"/>
                  <a:ea typeface="Roboto Condensed" panose="02000000000000000000" pitchFamily="2"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i="0" dirty="0">
                    <a:solidFill>
                      <a:schemeClr val="bg1"/>
                    </a:solidFill>
                    <a:effectLst/>
                    <a:latin typeface="Roboto Condensed" panose="02000000000000000000" pitchFamily="2" charset="0"/>
                    <a:ea typeface="Roboto Condensed" panose="02000000000000000000" pitchFamily="2" charset="0"/>
                  </a:rPr>
                  <a:t>Department of Electronics Engineering</a:t>
                </a:r>
                <a:endParaRPr lang="en-IN" sz="1000" b="1" dirty="0">
                  <a:solidFill>
                    <a:schemeClr val="bg1"/>
                  </a:solidFill>
                  <a:latin typeface="Roboto Condensed" panose="02000000000000000000" pitchFamily="2" charset="0"/>
                  <a:ea typeface="Roboto Condensed" panose="02000000000000000000" pitchFamily="2" charset="0"/>
                </a:endParaRPr>
              </a:p>
              <a:p>
                <a:pPr marL="0" lvl="0" indent="0" algn="l" rtl="0">
                  <a:spcBef>
                    <a:spcPts val="0"/>
                  </a:spcBef>
                  <a:spcAft>
                    <a:spcPts val="0"/>
                  </a:spcAft>
                  <a:buNone/>
                </a:pPr>
                <a:endParaRPr dirty="0"/>
              </a:p>
            </p:txBody>
          </p:sp>
          <p:sp>
            <p:nvSpPr>
              <p:cNvPr id="69" name="Google Shape;69;p5"/>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0" name="Google Shape;70;p5"/>
          <p:cNvGrpSpPr/>
          <p:nvPr/>
        </p:nvGrpSpPr>
        <p:grpSpPr>
          <a:xfrm>
            <a:off x="-4" y="40"/>
            <a:ext cx="7072430" cy="1327315"/>
            <a:chOff x="-4" y="40"/>
            <a:chExt cx="7072430" cy="1327315"/>
          </a:xfrm>
        </p:grpSpPr>
        <p:sp>
          <p:nvSpPr>
            <p:cNvPr id="71" name="Google Shape;71;p5"/>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grpSp>
          <p:nvGrpSpPr>
            <p:cNvPr id="72" name="Google Shape;72;p5"/>
            <p:cNvGrpSpPr/>
            <p:nvPr/>
          </p:nvGrpSpPr>
          <p:grpSpPr>
            <a:xfrm rot="10800000" flipH="1">
              <a:off x="3" y="40"/>
              <a:ext cx="6756168" cy="1327315"/>
              <a:chOff x="-2168138" y="330075"/>
              <a:chExt cx="8650663" cy="1699506"/>
            </a:xfrm>
          </p:grpSpPr>
          <p:sp>
            <p:nvSpPr>
              <p:cNvPr id="73" name="Google Shape;73;p5"/>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sp>
            <p:nvSpPr>
              <p:cNvPr id="74" name="Google Shape;74;p5"/>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grpSp>
        <p:grpSp>
          <p:nvGrpSpPr>
            <p:cNvPr id="75" name="Google Shape;75;p5"/>
            <p:cNvGrpSpPr/>
            <p:nvPr/>
          </p:nvGrpSpPr>
          <p:grpSpPr>
            <a:xfrm rot="10800000" flipH="1">
              <a:off x="-4" y="381007"/>
              <a:ext cx="7072430" cy="771744"/>
              <a:chOff x="-9092084" y="330075"/>
              <a:chExt cx="15574609" cy="1699501"/>
            </a:xfrm>
          </p:grpSpPr>
          <p:sp>
            <p:nvSpPr>
              <p:cNvPr id="76" name="Google Shape;76;p5"/>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sp>
            <p:nvSpPr>
              <p:cNvPr id="77" name="Google Shape;77;p5"/>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rvo"/>
                  <a:ea typeface="Arvo"/>
                  <a:cs typeface="Arvo"/>
                  <a:sym typeface="Arvo"/>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noAutofit/>
          </a:bodyPr>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948333"/>
            <a:ext cx="1487400" cy="195167"/>
          </a:xfrm>
          <a:prstGeom prst="rect">
            <a:avLst/>
          </a:prstGeom>
        </p:spPr>
        <p:txBody>
          <a:bodyPr spcFirstLastPara="1" wrap="square" lIns="91425" tIns="91425" rIns="91425" bIns="91425" anchor="ctr" anchorCtr="0">
            <a:noAutofit/>
          </a:bodyPr>
          <a:lstStyle>
            <a:lvl1pPr lvl="0">
              <a:buNone/>
              <a:defRPr sz="1000">
                <a:solidFill>
                  <a:schemeClr val="tx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pic>
        <p:nvPicPr>
          <p:cNvPr id="22" name="Picture 21">
            <a:extLst>
              <a:ext uri="{FF2B5EF4-FFF2-40B4-BE49-F238E27FC236}">
                <a16:creationId xmlns:a16="http://schemas.microsoft.com/office/drawing/2014/main" id="{0DF7ABA7-46FF-15F1-5FAE-AB297055692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30126" y="191400"/>
            <a:ext cx="1061720" cy="400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163" name="Google Shape;163;p10"/>
          <p:cNvGrpSpPr/>
          <p:nvPr/>
        </p:nvGrpSpPr>
        <p:grpSpPr>
          <a:xfrm rot="10800000">
            <a:off x="-8" y="-2"/>
            <a:ext cx="2202830" cy="670795"/>
            <a:chOff x="5575242" y="4472723"/>
            <a:chExt cx="2202830" cy="670795"/>
          </a:xfrm>
        </p:grpSpPr>
        <p:sp>
          <p:nvSpPr>
            <p:cNvPr id="164"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65" name="Google Shape;165;p10"/>
            <p:cNvGrpSpPr/>
            <p:nvPr/>
          </p:nvGrpSpPr>
          <p:grpSpPr>
            <a:xfrm flipH="1">
              <a:off x="5734850" y="4472723"/>
              <a:ext cx="2040837" cy="670795"/>
              <a:chOff x="1297954" y="330075"/>
              <a:chExt cx="5169293" cy="1699506"/>
            </a:xfrm>
          </p:grpSpPr>
          <p:sp>
            <p:nvSpPr>
              <p:cNvPr id="166"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8" name="Google Shape;168;p10"/>
            <p:cNvGrpSpPr/>
            <p:nvPr/>
          </p:nvGrpSpPr>
          <p:grpSpPr>
            <a:xfrm flipH="1">
              <a:off x="5578209" y="4646738"/>
              <a:ext cx="2199863" cy="304563"/>
              <a:chOff x="-5827153" y="330075"/>
              <a:chExt cx="12276019" cy="1699569"/>
            </a:xfrm>
          </p:grpSpPr>
          <p:sp>
            <p:nvSpPr>
              <p:cNvPr id="169"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71" name="Google Shape;171;p10"/>
          <p:cNvGrpSpPr/>
          <p:nvPr/>
        </p:nvGrpSpPr>
        <p:grpSpPr>
          <a:xfrm>
            <a:off x="6946842" y="4472723"/>
            <a:ext cx="2202830" cy="670795"/>
            <a:chOff x="5575242" y="4472723"/>
            <a:chExt cx="2202830" cy="670795"/>
          </a:xfrm>
        </p:grpSpPr>
        <p:sp>
          <p:nvSpPr>
            <p:cNvPr id="172"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73" name="Google Shape;173;p10"/>
            <p:cNvGrpSpPr/>
            <p:nvPr/>
          </p:nvGrpSpPr>
          <p:grpSpPr>
            <a:xfrm flipH="1">
              <a:off x="5734850" y="4472723"/>
              <a:ext cx="2040837" cy="670795"/>
              <a:chOff x="1297954" y="330075"/>
              <a:chExt cx="5169293" cy="1699506"/>
            </a:xfrm>
          </p:grpSpPr>
          <p:sp>
            <p:nvSpPr>
              <p:cNvPr id="174"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6" name="Google Shape;176;p10"/>
            <p:cNvGrpSpPr/>
            <p:nvPr/>
          </p:nvGrpSpPr>
          <p:grpSpPr>
            <a:xfrm flipH="1">
              <a:off x="5578209" y="4646738"/>
              <a:ext cx="2199863" cy="304563"/>
              <a:chOff x="-5827153" y="330075"/>
              <a:chExt cx="12276019" cy="1699569"/>
            </a:xfrm>
          </p:grpSpPr>
          <p:sp>
            <p:nvSpPr>
              <p:cNvPr id="177"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sz="1000" b="1" i="0" dirty="0">
                  <a:solidFill>
                    <a:schemeClr val="tx1">
                      <a:lumMod val="75000"/>
                    </a:schemeClr>
                  </a:solidFill>
                  <a:effectLst/>
                  <a:latin typeface="Roboto Condensed" panose="02000000000000000000" pitchFamily="2" charset="0"/>
                  <a:ea typeface="Roboto Condensed" panose="02000000000000000000" pitchFamily="2"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sz="200" b="1" i="0" dirty="0">
                  <a:solidFill>
                    <a:schemeClr val="bg1"/>
                  </a:solidFill>
                  <a:effectLst/>
                  <a:latin typeface="Roboto Condensed" panose="02000000000000000000" pitchFamily="2" charset="0"/>
                  <a:ea typeface="Roboto Condensed" panose="02000000000000000000" pitchFamily="2"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sz="200" b="1" i="0" dirty="0">
                  <a:solidFill>
                    <a:schemeClr val="bg1"/>
                  </a:solidFill>
                  <a:effectLst/>
                  <a:latin typeface="Roboto Condensed" panose="02000000000000000000" pitchFamily="2" charset="0"/>
                  <a:ea typeface="Roboto Condensed" panose="02000000000000000000" pitchFamily="2"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i="0" dirty="0">
                    <a:solidFill>
                      <a:schemeClr val="bg1"/>
                    </a:solidFill>
                    <a:effectLst/>
                    <a:latin typeface="Roboto Condensed" panose="02000000000000000000" pitchFamily="2" charset="0"/>
                    <a:ea typeface="Roboto Condensed" panose="02000000000000000000" pitchFamily="2" charset="0"/>
                  </a:rPr>
                  <a:t>Department of Electronics Engineering</a:t>
                </a:r>
                <a:endParaRPr lang="en-IN" sz="1000" b="1" dirty="0">
                  <a:solidFill>
                    <a:schemeClr val="bg1"/>
                  </a:solidFill>
                  <a:latin typeface="Roboto Condensed" panose="02000000000000000000" pitchFamily="2" charset="0"/>
                  <a:ea typeface="Roboto Condensed" panose="02000000000000000000" pitchFamily="2" charset="0"/>
                </a:endParaRPr>
              </a:p>
              <a:p>
                <a:pPr marL="0" lvl="0" indent="0" algn="l" rtl="0">
                  <a:spcBef>
                    <a:spcPts val="0"/>
                  </a:spcBef>
                  <a:spcAft>
                    <a:spcPts val="0"/>
                  </a:spcAft>
                  <a:buNone/>
                </a:pPr>
                <a:endParaRPr dirty="0"/>
              </a:p>
            </p:txBody>
          </p:sp>
          <p:sp>
            <p:nvSpPr>
              <p:cNvPr id="178"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79"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endParaRPr lang="en" dirty="0"/>
          </a:p>
          <a:p>
            <a:endParaRPr lang="en" dirty="0"/>
          </a:p>
          <a:p>
            <a:endParaRPr lang="en" dirty="0"/>
          </a:p>
          <a:p>
            <a:fld id="{00000000-1234-1234-1234-123412341234}" type="slidenum">
              <a:rPr lang="en" sz="1100" smtClean="0">
                <a:solidFill>
                  <a:schemeClr val="tx1"/>
                </a:solidFill>
              </a:rPr>
              <a:pPr/>
              <a:t>‹#›</a:t>
            </a:fld>
            <a:endParaRPr dirty="0">
              <a:solidFill>
                <a:schemeClr val="tx1"/>
              </a:solidFill>
            </a:endParaRPr>
          </a:p>
        </p:txBody>
      </p:sp>
      <p:pic>
        <p:nvPicPr>
          <p:cNvPr id="19" name="Picture 18">
            <a:extLst>
              <a:ext uri="{FF2B5EF4-FFF2-40B4-BE49-F238E27FC236}">
                <a16:creationId xmlns:a16="http://schemas.microsoft.com/office/drawing/2014/main" id="{81C0B8A8-C234-D9CC-2060-D5C9C8BE4B8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30126" y="191400"/>
            <a:ext cx="1061720" cy="4000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dirty="0"/>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6"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rduino.cc/" TargetMode="External"/><Relationship Id="rId2" Type="http://schemas.openxmlformats.org/officeDocument/2006/relationships/hyperlink" Target="https://howtomechatronics.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 name="TextBox 1">
            <a:extLst>
              <a:ext uri="{FF2B5EF4-FFF2-40B4-BE49-F238E27FC236}">
                <a16:creationId xmlns:a16="http://schemas.microsoft.com/office/drawing/2014/main" id="{D6BA6A06-054D-E823-CEA0-EA058129656C}"/>
              </a:ext>
            </a:extLst>
          </p:cNvPr>
          <p:cNvSpPr txBox="1"/>
          <p:nvPr/>
        </p:nvSpPr>
        <p:spPr>
          <a:xfrm>
            <a:off x="368413" y="92380"/>
            <a:ext cx="7021285" cy="1077218"/>
          </a:xfrm>
          <a:prstGeom prst="rect">
            <a:avLst/>
          </a:prstGeom>
          <a:noFill/>
        </p:spPr>
        <p:txBody>
          <a:bodyPr wrap="square" rtlCol="0">
            <a:spAutoFit/>
          </a:bodyPr>
          <a:lstStyle/>
          <a:p>
            <a:pPr algn="ctr">
              <a:buClr>
                <a:schemeClr val="lt1"/>
              </a:buClr>
              <a:buSzPts val="4800"/>
            </a:pPr>
            <a:r>
              <a:rPr lang="en" sz="3200" b="1" i="1" dirty="0">
                <a:solidFill>
                  <a:schemeClr val="tx1"/>
                </a:solidFill>
                <a:effectLst>
                  <a:outerShdw blurRad="38100" dist="38100" dir="2700000" algn="tl">
                    <a:srgbClr val="000000">
                      <a:alpha val="43137"/>
                    </a:srgbClr>
                  </a:outerShdw>
                </a:effectLst>
                <a:latin typeface="Roboto Condensed"/>
                <a:ea typeface="Roboto Condensed"/>
                <a:sym typeface="Roboto Condensed"/>
              </a:rPr>
              <a:t>EXCS-BE-06</a:t>
            </a:r>
          </a:p>
          <a:p>
            <a:pPr algn="ctr">
              <a:buClr>
                <a:schemeClr val="lt1"/>
              </a:buClr>
              <a:buSzPts val="4800"/>
            </a:pPr>
            <a:r>
              <a:rPr lang="en" sz="3200" b="1" i="1" dirty="0">
                <a:solidFill>
                  <a:schemeClr val="tx1"/>
                </a:solidFill>
                <a:effectLst>
                  <a:outerShdw blurRad="38100" dist="38100" dir="2700000" algn="tl">
                    <a:srgbClr val="000000">
                      <a:alpha val="43137"/>
                    </a:srgbClr>
                  </a:outerShdw>
                </a:effectLst>
                <a:latin typeface="Roboto Condensed"/>
                <a:ea typeface="Roboto Condensed"/>
                <a:sym typeface="Roboto Condensed"/>
              </a:rPr>
              <a:t>WIRELESS FIRE ALARM SYSTEM</a:t>
            </a:r>
            <a:endParaRPr lang="en-IN" sz="3200" b="1" i="1" dirty="0">
              <a:solidFill>
                <a:schemeClr val="tx1"/>
              </a:solidFill>
              <a:effectLst>
                <a:outerShdw blurRad="38100" dist="38100" dir="2700000" algn="tl">
                  <a:srgbClr val="000000">
                    <a:alpha val="43137"/>
                  </a:srgbClr>
                </a:outerShdw>
              </a:effectLst>
              <a:latin typeface="Roboto Condensed"/>
              <a:ea typeface="Roboto Condensed"/>
              <a:sym typeface="Roboto Condensed"/>
            </a:endParaRPr>
          </a:p>
        </p:txBody>
      </p:sp>
      <p:graphicFrame>
        <p:nvGraphicFramePr>
          <p:cNvPr id="13" name="Table 13">
            <a:extLst>
              <a:ext uri="{FF2B5EF4-FFF2-40B4-BE49-F238E27FC236}">
                <a16:creationId xmlns:a16="http://schemas.microsoft.com/office/drawing/2014/main" id="{73D438BA-569E-DF75-4DD6-5934D3EABC3B}"/>
              </a:ext>
            </a:extLst>
          </p:cNvPr>
          <p:cNvGraphicFramePr>
            <a:graphicFrameLocks noGrp="1"/>
          </p:cNvGraphicFramePr>
          <p:nvPr>
            <p:extLst>
              <p:ext uri="{D42A27DB-BD31-4B8C-83A1-F6EECF244321}">
                <p14:modId xmlns:p14="http://schemas.microsoft.com/office/powerpoint/2010/main" val="271424985"/>
              </p:ext>
            </p:extLst>
          </p:nvPr>
        </p:nvGraphicFramePr>
        <p:xfrm>
          <a:off x="536120" y="1788886"/>
          <a:ext cx="7350579" cy="1854200"/>
        </p:xfrm>
        <a:graphic>
          <a:graphicData uri="http://schemas.openxmlformats.org/drawingml/2006/table">
            <a:tbl>
              <a:tblPr firstRow="1" bandRow="1">
                <a:tableStyleId>{5940675A-B579-460E-94D1-54222C63F5DA}</a:tableStyleId>
              </a:tblPr>
              <a:tblGrid>
                <a:gridCol w="1273226">
                  <a:extLst>
                    <a:ext uri="{9D8B030D-6E8A-4147-A177-3AD203B41FA5}">
                      <a16:colId xmlns:a16="http://schemas.microsoft.com/office/drawing/2014/main" val="524172308"/>
                    </a:ext>
                  </a:extLst>
                </a:gridCol>
                <a:gridCol w="2402063">
                  <a:extLst>
                    <a:ext uri="{9D8B030D-6E8A-4147-A177-3AD203B41FA5}">
                      <a16:colId xmlns:a16="http://schemas.microsoft.com/office/drawing/2014/main" val="879825931"/>
                    </a:ext>
                  </a:extLst>
                </a:gridCol>
                <a:gridCol w="2246541">
                  <a:extLst>
                    <a:ext uri="{9D8B030D-6E8A-4147-A177-3AD203B41FA5}">
                      <a16:colId xmlns:a16="http://schemas.microsoft.com/office/drawing/2014/main" val="3507871298"/>
                    </a:ext>
                  </a:extLst>
                </a:gridCol>
                <a:gridCol w="1428749">
                  <a:extLst>
                    <a:ext uri="{9D8B030D-6E8A-4147-A177-3AD203B41FA5}">
                      <a16:colId xmlns:a16="http://schemas.microsoft.com/office/drawing/2014/main" val="435657103"/>
                    </a:ext>
                  </a:extLst>
                </a:gridCol>
              </a:tblGrid>
              <a:tr h="370840">
                <a:tc>
                  <a:txBody>
                    <a:bodyPr/>
                    <a:lstStyle/>
                    <a:p>
                      <a:pPr algn="ctr"/>
                      <a:r>
                        <a:rPr lang="en-IN" b="1" dirty="0">
                          <a:latin typeface="Roboto Condensed" panose="02000000000000000000" pitchFamily="2" charset="0"/>
                          <a:ea typeface="Roboto Condensed" panose="02000000000000000000" pitchFamily="2" charset="0"/>
                        </a:rPr>
                        <a:t>Roll No</a:t>
                      </a:r>
                    </a:p>
                  </a:txBody>
                  <a:tcPr>
                    <a:solidFill>
                      <a:schemeClr val="bg1"/>
                    </a:solidFill>
                  </a:tcPr>
                </a:tc>
                <a:tc>
                  <a:txBody>
                    <a:bodyPr/>
                    <a:lstStyle/>
                    <a:p>
                      <a:pPr marR="0" algn="ctr" rtl="0">
                        <a:lnSpc>
                          <a:spcPct val="100000"/>
                        </a:lnSpc>
                        <a:spcBef>
                          <a:spcPts val="0"/>
                        </a:spcBef>
                        <a:spcAft>
                          <a:spcPts val="0"/>
                        </a:spcAft>
                        <a:buClr>
                          <a:srgbClr val="000000"/>
                        </a:buClr>
                        <a:buFont typeface="Arial"/>
                      </a:pPr>
                      <a:r>
                        <a:rPr lang="en-IN" sz="1400" b="1" i="0" u="none" strike="noStrike" cap="none" dirty="0">
                          <a:solidFill>
                            <a:schemeClr val="tx1"/>
                          </a:solidFill>
                          <a:latin typeface="Roboto Condensed" panose="02000000000000000000" pitchFamily="2" charset="0"/>
                          <a:ea typeface="Roboto Condensed" panose="02000000000000000000" pitchFamily="2" charset="0"/>
                          <a:cs typeface="+mn-cs"/>
                          <a:sym typeface="Arial"/>
                        </a:rPr>
                        <a:t>Name</a:t>
                      </a:r>
                    </a:p>
                  </a:txBody>
                  <a:tcPr>
                    <a:solidFill>
                      <a:schemeClr val="bg1"/>
                    </a:solidFill>
                  </a:tcPr>
                </a:tc>
                <a:tc>
                  <a:txBody>
                    <a:bodyPr/>
                    <a:lstStyle/>
                    <a:p>
                      <a:pPr marR="0" algn="ctr" rtl="0">
                        <a:lnSpc>
                          <a:spcPct val="100000"/>
                        </a:lnSpc>
                        <a:spcBef>
                          <a:spcPts val="0"/>
                        </a:spcBef>
                        <a:spcAft>
                          <a:spcPts val="0"/>
                        </a:spcAft>
                        <a:buClr>
                          <a:srgbClr val="000000"/>
                        </a:buClr>
                        <a:buFont typeface="Arial"/>
                      </a:pPr>
                      <a:r>
                        <a:rPr lang="en-IN" sz="1400" b="1" i="0" u="none" strike="noStrike" cap="none" dirty="0">
                          <a:solidFill>
                            <a:schemeClr val="tx1"/>
                          </a:solidFill>
                          <a:latin typeface="Roboto Condensed" panose="02000000000000000000" pitchFamily="2" charset="0"/>
                          <a:ea typeface="Roboto Condensed" panose="02000000000000000000" pitchFamily="2" charset="0"/>
                          <a:cs typeface="+mn-cs"/>
                          <a:sym typeface="Arial"/>
                        </a:rPr>
                        <a:t>Email ID</a:t>
                      </a:r>
                    </a:p>
                  </a:txBody>
                  <a:tcPr>
                    <a:solidFill>
                      <a:schemeClr val="bg1"/>
                    </a:solidFill>
                  </a:tcPr>
                </a:tc>
                <a:tc>
                  <a:txBody>
                    <a:bodyPr/>
                    <a:lstStyle/>
                    <a:p>
                      <a:pPr marR="0" algn="ctr" rtl="0">
                        <a:lnSpc>
                          <a:spcPct val="100000"/>
                        </a:lnSpc>
                        <a:spcBef>
                          <a:spcPts val="0"/>
                        </a:spcBef>
                        <a:spcAft>
                          <a:spcPts val="0"/>
                        </a:spcAft>
                        <a:buClr>
                          <a:srgbClr val="000000"/>
                        </a:buClr>
                        <a:buFont typeface="Arial"/>
                      </a:pPr>
                      <a:r>
                        <a:rPr lang="en-IN" sz="1400" b="1" i="0" u="none" strike="noStrike" cap="none" dirty="0">
                          <a:solidFill>
                            <a:schemeClr val="tx1"/>
                          </a:solidFill>
                          <a:latin typeface="Roboto Condensed" panose="02000000000000000000" pitchFamily="2" charset="0"/>
                          <a:ea typeface="Roboto Condensed" panose="02000000000000000000" pitchFamily="2" charset="0"/>
                          <a:cs typeface="+mn-cs"/>
                          <a:sym typeface="Arial"/>
                        </a:rPr>
                        <a:t>Mobile Number</a:t>
                      </a:r>
                    </a:p>
                  </a:txBody>
                  <a:tcPr>
                    <a:solidFill>
                      <a:schemeClr val="bg1"/>
                    </a:solidFill>
                  </a:tcPr>
                </a:tc>
                <a:extLst>
                  <a:ext uri="{0D108BD9-81ED-4DB2-BD59-A6C34878D82A}">
                    <a16:rowId xmlns:a16="http://schemas.microsoft.com/office/drawing/2014/main" val="266387137"/>
                  </a:ext>
                </a:extLst>
              </a:tr>
              <a:tr h="370840">
                <a:tc>
                  <a:txBody>
                    <a:bodyPr/>
                    <a:lstStyle/>
                    <a:p>
                      <a:r>
                        <a:rPr lang="en-IN" dirty="0"/>
                        <a:t>20103B0031</a:t>
                      </a:r>
                    </a:p>
                  </a:txBody>
                  <a:tcPr>
                    <a:solidFill>
                      <a:schemeClr val="bg1"/>
                    </a:solidFill>
                  </a:tcPr>
                </a:tc>
                <a:tc>
                  <a:txBody>
                    <a:bodyPr/>
                    <a:lstStyle/>
                    <a:p>
                      <a:r>
                        <a:rPr lang="en-IN" dirty="0"/>
                        <a:t>TEJAS BRID`</a:t>
                      </a:r>
                    </a:p>
                  </a:txBody>
                  <a:tcPr>
                    <a:solidFill>
                      <a:schemeClr val="bg1"/>
                    </a:solidFill>
                  </a:tcPr>
                </a:tc>
                <a:tc>
                  <a:txBody>
                    <a:bodyPr/>
                    <a:lstStyle/>
                    <a:p>
                      <a:r>
                        <a:rPr lang="en-IN" dirty="0"/>
                        <a:t>tejas.brid@vit.edu.in</a:t>
                      </a:r>
                    </a:p>
                  </a:txBody>
                  <a:tcPr>
                    <a:solidFill>
                      <a:schemeClr val="bg1"/>
                    </a:solidFill>
                  </a:tcPr>
                </a:tc>
                <a:tc>
                  <a:txBody>
                    <a:bodyPr/>
                    <a:lstStyle/>
                    <a:p>
                      <a:r>
                        <a:rPr lang="en-IN" dirty="0"/>
                        <a:t>8369922997</a:t>
                      </a:r>
                    </a:p>
                  </a:txBody>
                  <a:tcPr>
                    <a:solidFill>
                      <a:schemeClr val="bg1"/>
                    </a:solidFill>
                  </a:tcPr>
                </a:tc>
                <a:extLst>
                  <a:ext uri="{0D108BD9-81ED-4DB2-BD59-A6C34878D82A}">
                    <a16:rowId xmlns:a16="http://schemas.microsoft.com/office/drawing/2014/main" val="1066263911"/>
                  </a:ext>
                </a:extLst>
              </a:tr>
              <a:tr h="370840">
                <a:tc>
                  <a:txBody>
                    <a:bodyPr/>
                    <a:lstStyle/>
                    <a:p>
                      <a:r>
                        <a:rPr lang="en-IN" dirty="0"/>
                        <a:t>20103B0049</a:t>
                      </a:r>
                    </a:p>
                  </a:txBody>
                  <a:tcPr>
                    <a:solidFill>
                      <a:schemeClr val="bg1"/>
                    </a:solidFill>
                  </a:tcPr>
                </a:tc>
                <a:tc>
                  <a:txBody>
                    <a:bodyPr/>
                    <a:lstStyle/>
                    <a:p>
                      <a:r>
                        <a:rPr lang="en-IN" dirty="0"/>
                        <a:t>NAVDEEP PATIL</a:t>
                      </a:r>
                    </a:p>
                  </a:txBody>
                  <a:tcPr>
                    <a:solidFill>
                      <a:schemeClr val="bg1"/>
                    </a:solidFill>
                  </a:tcPr>
                </a:tc>
                <a:tc>
                  <a:txBody>
                    <a:bodyPr/>
                    <a:lstStyle/>
                    <a:p>
                      <a:r>
                        <a:rPr lang="en-IN" dirty="0"/>
                        <a:t>navdeep.patil@vit.edu.in</a:t>
                      </a:r>
                    </a:p>
                  </a:txBody>
                  <a:tcPr>
                    <a:solidFill>
                      <a:schemeClr val="bg1"/>
                    </a:solidFill>
                  </a:tcPr>
                </a:tc>
                <a:tc>
                  <a:txBody>
                    <a:bodyPr/>
                    <a:lstStyle/>
                    <a:p>
                      <a:r>
                        <a:rPr lang="en-IN" dirty="0"/>
                        <a:t>8866557829</a:t>
                      </a:r>
                    </a:p>
                  </a:txBody>
                  <a:tcPr>
                    <a:solidFill>
                      <a:schemeClr val="bg1"/>
                    </a:solidFill>
                  </a:tcPr>
                </a:tc>
                <a:extLst>
                  <a:ext uri="{0D108BD9-81ED-4DB2-BD59-A6C34878D82A}">
                    <a16:rowId xmlns:a16="http://schemas.microsoft.com/office/drawing/2014/main" val="3141535666"/>
                  </a:ext>
                </a:extLst>
              </a:tr>
              <a:tr h="370840">
                <a:tc>
                  <a:txBody>
                    <a:bodyPr/>
                    <a:lstStyle/>
                    <a:p>
                      <a:r>
                        <a:rPr lang="en-IN" dirty="0"/>
                        <a:t>20103B0048</a:t>
                      </a:r>
                    </a:p>
                  </a:txBody>
                  <a:tcPr>
                    <a:solidFill>
                      <a:schemeClr val="bg1"/>
                    </a:solidFill>
                  </a:tcPr>
                </a:tc>
                <a:tc>
                  <a:txBody>
                    <a:bodyPr/>
                    <a:lstStyle/>
                    <a:p>
                      <a:r>
                        <a:rPr lang="en-IN" dirty="0"/>
                        <a:t>SIDDHANT DETHE</a:t>
                      </a:r>
                    </a:p>
                  </a:txBody>
                  <a:tcPr>
                    <a:solidFill>
                      <a:schemeClr val="bg1"/>
                    </a:solidFill>
                  </a:tcPr>
                </a:tc>
                <a:tc>
                  <a:txBody>
                    <a:bodyPr/>
                    <a:lstStyle/>
                    <a:p>
                      <a:r>
                        <a:rPr lang="en-IN" dirty="0"/>
                        <a:t>siddhant.dethe@vit.edu.in</a:t>
                      </a:r>
                    </a:p>
                  </a:txBody>
                  <a:tcPr>
                    <a:solidFill>
                      <a:schemeClr val="bg1"/>
                    </a:solidFill>
                  </a:tcPr>
                </a:tc>
                <a:tc>
                  <a:txBody>
                    <a:bodyPr/>
                    <a:lstStyle/>
                    <a:p>
                      <a:r>
                        <a:rPr lang="en-IN" dirty="0"/>
                        <a:t>7304203535</a:t>
                      </a:r>
                    </a:p>
                  </a:txBody>
                  <a:tcPr>
                    <a:solidFill>
                      <a:schemeClr val="bg1"/>
                    </a:solidFill>
                  </a:tcPr>
                </a:tc>
                <a:extLst>
                  <a:ext uri="{0D108BD9-81ED-4DB2-BD59-A6C34878D82A}">
                    <a16:rowId xmlns:a16="http://schemas.microsoft.com/office/drawing/2014/main" val="87785461"/>
                  </a:ext>
                </a:extLst>
              </a:tr>
              <a:tr h="370840">
                <a:tc>
                  <a:txBody>
                    <a:bodyPr/>
                    <a:lstStyle/>
                    <a:p>
                      <a:r>
                        <a:rPr lang="en-IN" dirty="0"/>
                        <a:t>20103B0051</a:t>
                      </a:r>
                    </a:p>
                  </a:txBody>
                  <a:tcPr>
                    <a:solidFill>
                      <a:schemeClr val="bg1"/>
                    </a:solidFill>
                  </a:tcPr>
                </a:tc>
                <a:tc>
                  <a:txBody>
                    <a:bodyPr/>
                    <a:lstStyle/>
                    <a:p>
                      <a:r>
                        <a:rPr lang="en-IN" dirty="0"/>
                        <a:t>SHREYAS TUKRUL</a:t>
                      </a:r>
                    </a:p>
                  </a:txBody>
                  <a:tcPr>
                    <a:solidFill>
                      <a:schemeClr val="bg1"/>
                    </a:solidFill>
                  </a:tcPr>
                </a:tc>
                <a:tc>
                  <a:txBody>
                    <a:bodyPr/>
                    <a:lstStyle/>
                    <a:p>
                      <a:r>
                        <a:rPr lang="en-IN" dirty="0"/>
                        <a:t>shreyas.tukrul@vit.edu.in</a:t>
                      </a:r>
                    </a:p>
                  </a:txBody>
                  <a:tcPr>
                    <a:solidFill>
                      <a:schemeClr val="bg1"/>
                    </a:solidFill>
                  </a:tcPr>
                </a:tc>
                <a:tc>
                  <a:txBody>
                    <a:bodyPr/>
                    <a:lstStyle/>
                    <a:p>
                      <a:r>
                        <a:rPr lang="en-IN" dirty="0"/>
                        <a:t>8104099114</a:t>
                      </a:r>
                    </a:p>
                  </a:txBody>
                  <a:tcPr>
                    <a:solidFill>
                      <a:schemeClr val="bg1"/>
                    </a:solidFill>
                  </a:tcPr>
                </a:tc>
                <a:extLst>
                  <a:ext uri="{0D108BD9-81ED-4DB2-BD59-A6C34878D82A}">
                    <a16:rowId xmlns:a16="http://schemas.microsoft.com/office/drawing/2014/main" val="3125979499"/>
                  </a:ext>
                </a:extLst>
              </a:tr>
            </a:tbl>
          </a:graphicData>
        </a:graphic>
      </p:graphicFrame>
      <p:sp>
        <p:nvSpPr>
          <p:cNvPr id="14" name="TextBox 13">
            <a:extLst>
              <a:ext uri="{FF2B5EF4-FFF2-40B4-BE49-F238E27FC236}">
                <a16:creationId xmlns:a16="http://schemas.microsoft.com/office/drawing/2014/main" id="{F0AEACDE-B37D-DAE3-5EA6-261DEF135D3E}"/>
              </a:ext>
            </a:extLst>
          </p:cNvPr>
          <p:cNvSpPr txBox="1"/>
          <p:nvPr/>
        </p:nvSpPr>
        <p:spPr>
          <a:xfrm>
            <a:off x="536121" y="1242657"/>
            <a:ext cx="2947307" cy="400110"/>
          </a:xfrm>
          <a:prstGeom prst="rect">
            <a:avLst/>
          </a:prstGeom>
          <a:noFill/>
        </p:spPr>
        <p:txBody>
          <a:bodyPr wrap="square" rtlCol="0">
            <a:spAutoFit/>
          </a:bodyPr>
          <a:lstStyle/>
          <a:p>
            <a:r>
              <a:rPr lang="en-IN" sz="2000" b="1" i="1" dirty="0">
                <a:solidFill>
                  <a:schemeClr val="bg1"/>
                </a:solidFill>
                <a:effectLst>
                  <a:outerShdw blurRad="38100" dist="38100" dir="2700000" algn="tl">
                    <a:srgbClr val="000000">
                      <a:alpha val="43137"/>
                    </a:srgbClr>
                  </a:outerShdw>
                </a:effectLst>
                <a:latin typeface="Roboto Condensed"/>
                <a:ea typeface="Roboto Condensed"/>
              </a:rPr>
              <a:t>Group Members :</a:t>
            </a:r>
          </a:p>
        </p:txBody>
      </p:sp>
      <p:sp>
        <p:nvSpPr>
          <p:cNvPr id="15" name="TextBox 14">
            <a:extLst>
              <a:ext uri="{FF2B5EF4-FFF2-40B4-BE49-F238E27FC236}">
                <a16:creationId xmlns:a16="http://schemas.microsoft.com/office/drawing/2014/main" id="{B0EC5580-725C-9A79-4FB0-2C2B82CA3502}"/>
              </a:ext>
            </a:extLst>
          </p:cNvPr>
          <p:cNvSpPr txBox="1"/>
          <p:nvPr/>
        </p:nvSpPr>
        <p:spPr>
          <a:xfrm>
            <a:off x="432707" y="4297528"/>
            <a:ext cx="2947307" cy="861774"/>
          </a:xfrm>
          <a:prstGeom prst="rect">
            <a:avLst/>
          </a:prstGeom>
          <a:noFill/>
        </p:spPr>
        <p:txBody>
          <a:bodyPr wrap="square" rtlCol="0">
            <a:spAutoFit/>
          </a:bodyPr>
          <a:lstStyle/>
          <a:p>
            <a:r>
              <a:rPr lang="en-IN" sz="1800" b="1" dirty="0">
                <a:solidFill>
                  <a:schemeClr val="tx1"/>
                </a:solidFill>
                <a:latin typeface="Roboto Condensed" panose="02000000000000000000" pitchFamily="2" charset="0"/>
                <a:ea typeface="Roboto Condensed" panose="02000000000000000000" pitchFamily="2" charset="0"/>
              </a:rPr>
              <a:t>Under the Guidance of :</a:t>
            </a:r>
          </a:p>
          <a:p>
            <a:r>
              <a:rPr lang="en-IN" sz="1800" dirty="0">
                <a:solidFill>
                  <a:schemeClr val="tx1"/>
                </a:solidFill>
                <a:latin typeface="Roboto Condensed" panose="02000000000000000000" pitchFamily="2" charset="0"/>
                <a:ea typeface="Roboto Condensed" panose="02000000000000000000" pitchFamily="2" charset="0"/>
              </a:rPr>
              <a:t>Prof. Amol </a:t>
            </a:r>
            <a:r>
              <a:rPr lang="en-IN" sz="1800" dirty="0" err="1">
                <a:solidFill>
                  <a:schemeClr val="tx1"/>
                </a:solidFill>
                <a:latin typeface="Roboto Condensed" panose="02000000000000000000" pitchFamily="2" charset="0"/>
                <a:ea typeface="Roboto Condensed" panose="02000000000000000000" pitchFamily="2" charset="0"/>
              </a:rPr>
              <a:t>Sakhalkar</a:t>
            </a:r>
            <a:endParaRPr lang="en-IN" sz="1800" dirty="0">
              <a:solidFill>
                <a:schemeClr val="tx1"/>
              </a:solidFill>
              <a:latin typeface="Roboto Condensed" panose="02000000000000000000" pitchFamily="2" charset="0"/>
              <a:ea typeface="Roboto Condensed" panose="02000000000000000000" pitchFamily="2"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 </a:t>
            </a:r>
            <a:endParaRPr dirty="0"/>
          </a:p>
        </p:txBody>
      </p:sp>
      <p:sp>
        <p:nvSpPr>
          <p:cNvPr id="193" name="Google Shape;193;p1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600"/>
              </a:spcBef>
              <a:spcAft>
                <a:spcPts val="1000"/>
              </a:spcAft>
              <a:buNone/>
            </a:pPr>
            <a:r>
              <a:rPr lang="en-IN" dirty="0"/>
              <a:t>Fire safety is very important while building an infrastructure this has attracted many </a:t>
            </a:r>
            <a:r>
              <a:rPr lang="en-IN" dirty="0" err="1"/>
              <a:t>reaserchers</a:t>
            </a:r>
            <a:r>
              <a:rPr lang="en-IN" dirty="0"/>
              <a:t> and developers in the designing field. Traditional fire alarms are connected through wires which can cause a problem while installing and can be damaged in fires. This project challenges this problem.</a:t>
            </a:r>
            <a:endParaRPr dirty="0"/>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Slide Number Placeholder 1">
            <a:extLst>
              <a:ext uri="{FF2B5EF4-FFF2-40B4-BE49-F238E27FC236}">
                <a16:creationId xmlns:a16="http://schemas.microsoft.com/office/drawing/2014/main" id="{B5A674BA-8E37-9B1E-E4CE-66DBFEC692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4281E-E690-9373-A471-F832348E9F4E}"/>
              </a:ext>
            </a:extLst>
          </p:cNvPr>
          <p:cNvSpPr>
            <a:spLocks noGrp="1"/>
          </p:cNvSpPr>
          <p:nvPr>
            <p:ph type="title"/>
          </p:nvPr>
        </p:nvSpPr>
        <p:spPr/>
        <p:txBody>
          <a:bodyPr/>
          <a:lstStyle/>
          <a:p>
            <a:r>
              <a:rPr lang="en-US" dirty="0"/>
              <a:t>Industry Expert with whom Project proposal is discussed</a:t>
            </a:r>
            <a:endParaRPr lang="en-IN" dirty="0"/>
          </a:p>
        </p:txBody>
      </p:sp>
      <p:sp>
        <p:nvSpPr>
          <p:cNvPr id="3" name="Text Placeholder 2">
            <a:extLst>
              <a:ext uri="{FF2B5EF4-FFF2-40B4-BE49-F238E27FC236}">
                <a16:creationId xmlns:a16="http://schemas.microsoft.com/office/drawing/2014/main" id="{4856A8F4-C60F-CA12-2B54-1D1FD891D124}"/>
              </a:ext>
            </a:extLst>
          </p:cNvPr>
          <p:cNvSpPr>
            <a:spLocks noGrp="1"/>
          </p:cNvSpPr>
          <p:nvPr>
            <p:ph type="body" idx="1"/>
          </p:nvPr>
        </p:nvSpPr>
        <p:spPr/>
        <p:txBody>
          <a:bodyPr/>
          <a:lstStyle/>
          <a:p>
            <a:r>
              <a:rPr lang="en-US" dirty="0"/>
              <a:t>Name: Amol </a:t>
            </a:r>
            <a:r>
              <a:rPr lang="en-US" dirty="0" err="1"/>
              <a:t>Sakhalkar</a:t>
            </a:r>
            <a:endParaRPr lang="en-US" dirty="0"/>
          </a:p>
          <a:p>
            <a:r>
              <a:rPr lang="en-US" dirty="0"/>
              <a:t>Designation: Guide in-charge</a:t>
            </a:r>
          </a:p>
          <a:p>
            <a:r>
              <a:rPr lang="en-US" dirty="0"/>
              <a:t>Email: amol.sakhalkar@vit.edu.in</a:t>
            </a:r>
          </a:p>
          <a:p>
            <a:r>
              <a:rPr lang="en-US" dirty="0"/>
              <a:t> Mobile number: 9820632790</a:t>
            </a:r>
            <a:endParaRPr lang="en-IN" dirty="0"/>
          </a:p>
        </p:txBody>
      </p:sp>
      <p:sp>
        <p:nvSpPr>
          <p:cNvPr id="5" name="Google Shape;999;p46">
            <a:extLst>
              <a:ext uri="{FF2B5EF4-FFF2-40B4-BE49-F238E27FC236}">
                <a16:creationId xmlns:a16="http://schemas.microsoft.com/office/drawing/2014/main" id="{BA93B188-0DEC-9DED-1FE7-360D90FA9265}"/>
              </a:ext>
            </a:extLst>
          </p:cNvPr>
          <p:cNvSpPr/>
          <p:nvPr/>
        </p:nvSpPr>
        <p:spPr>
          <a:xfrm>
            <a:off x="282194" y="559017"/>
            <a:ext cx="354620" cy="428861"/>
          </a:xfrm>
          <a:custGeom>
            <a:avLst/>
            <a:gdLst/>
            <a:ahLst/>
            <a:cxnLst/>
            <a:rect l="l" t="t" r="r" b="b"/>
            <a:pathLst>
              <a:path w="15247" h="16075" fill="none" extrusionOk="0">
                <a:moveTo>
                  <a:pt x="9401" y="10717"/>
                </a:moveTo>
                <a:lnTo>
                  <a:pt x="9401" y="10717"/>
                </a:lnTo>
                <a:lnTo>
                  <a:pt x="9085" y="10692"/>
                </a:lnTo>
                <a:lnTo>
                  <a:pt x="9085" y="9596"/>
                </a:lnTo>
                <a:lnTo>
                  <a:pt x="9085" y="9596"/>
                </a:lnTo>
                <a:lnTo>
                  <a:pt x="9401" y="9377"/>
                </a:lnTo>
                <a:lnTo>
                  <a:pt x="9718" y="9133"/>
                </a:lnTo>
                <a:lnTo>
                  <a:pt x="10010" y="8866"/>
                </a:lnTo>
                <a:lnTo>
                  <a:pt x="10302" y="8573"/>
                </a:lnTo>
                <a:lnTo>
                  <a:pt x="10546" y="8232"/>
                </a:lnTo>
                <a:lnTo>
                  <a:pt x="10765" y="7867"/>
                </a:lnTo>
                <a:lnTo>
                  <a:pt x="10984" y="7502"/>
                </a:lnTo>
                <a:lnTo>
                  <a:pt x="11155" y="7088"/>
                </a:lnTo>
                <a:lnTo>
                  <a:pt x="11155" y="7088"/>
                </a:lnTo>
                <a:lnTo>
                  <a:pt x="11228" y="7112"/>
                </a:lnTo>
                <a:lnTo>
                  <a:pt x="11228" y="7112"/>
                </a:lnTo>
                <a:lnTo>
                  <a:pt x="11374" y="7112"/>
                </a:lnTo>
                <a:lnTo>
                  <a:pt x="11496" y="7039"/>
                </a:lnTo>
                <a:lnTo>
                  <a:pt x="11617" y="6942"/>
                </a:lnTo>
                <a:lnTo>
                  <a:pt x="11715" y="6771"/>
                </a:lnTo>
                <a:lnTo>
                  <a:pt x="11812" y="6601"/>
                </a:lnTo>
                <a:lnTo>
                  <a:pt x="11910" y="6381"/>
                </a:lnTo>
                <a:lnTo>
                  <a:pt x="11958" y="6138"/>
                </a:lnTo>
                <a:lnTo>
                  <a:pt x="12007" y="5870"/>
                </a:lnTo>
                <a:lnTo>
                  <a:pt x="12007" y="5870"/>
                </a:lnTo>
                <a:lnTo>
                  <a:pt x="12031" y="5626"/>
                </a:lnTo>
                <a:lnTo>
                  <a:pt x="12007" y="5383"/>
                </a:lnTo>
                <a:lnTo>
                  <a:pt x="11983" y="5188"/>
                </a:lnTo>
                <a:lnTo>
                  <a:pt x="11934" y="4993"/>
                </a:lnTo>
                <a:lnTo>
                  <a:pt x="11885" y="4823"/>
                </a:lnTo>
                <a:lnTo>
                  <a:pt x="11812" y="4677"/>
                </a:lnTo>
                <a:lnTo>
                  <a:pt x="11715" y="4579"/>
                </a:lnTo>
                <a:lnTo>
                  <a:pt x="11593" y="4506"/>
                </a:lnTo>
                <a:lnTo>
                  <a:pt x="11593" y="4506"/>
                </a:lnTo>
                <a:lnTo>
                  <a:pt x="11666" y="4141"/>
                </a:lnTo>
                <a:lnTo>
                  <a:pt x="11690" y="3800"/>
                </a:lnTo>
                <a:lnTo>
                  <a:pt x="11690" y="3483"/>
                </a:lnTo>
                <a:lnTo>
                  <a:pt x="11690" y="3191"/>
                </a:lnTo>
                <a:lnTo>
                  <a:pt x="11666" y="2899"/>
                </a:lnTo>
                <a:lnTo>
                  <a:pt x="11617" y="2631"/>
                </a:lnTo>
                <a:lnTo>
                  <a:pt x="11544" y="2387"/>
                </a:lnTo>
                <a:lnTo>
                  <a:pt x="11471" y="2144"/>
                </a:lnTo>
                <a:lnTo>
                  <a:pt x="11374" y="1924"/>
                </a:lnTo>
                <a:lnTo>
                  <a:pt x="11276" y="1705"/>
                </a:lnTo>
                <a:lnTo>
                  <a:pt x="11155" y="1510"/>
                </a:lnTo>
                <a:lnTo>
                  <a:pt x="11009" y="1340"/>
                </a:lnTo>
                <a:lnTo>
                  <a:pt x="10862" y="1169"/>
                </a:lnTo>
                <a:lnTo>
                  <a:pt x="10716" y="1023"/>
                </a:lnTo>
                <a:lnTo>
                  <a:pt x="10400" y="755"/>
                </a:lnTo>
                <a:lnTo>
                  <a:pt x="10034" y="561"/>
                </a:lnTo>
                <a:lnTo>
                  <a:pt x="9669" y="366"/>
                </a:lnTo>
                <a:lnTo>
                  <a:pt x="9304" y="244"/>
                </a:lnTo>
                <a:lnTo>
                  <a:pt x="8938" y="146"/>
                </a:lnTo>
                <a:lnTo>
                  <a:pt x="8573" y="73"/>
                </a:lnTo>
                <a:lnTo>
                  <a:pt x="8232" y="25"/>
                </a:lnTo>
                <a:lnTo>
                  <a:pt x="7915" y="0"/>
                </a:lnTo>
                <a:lnTo>
                  <a:pt x="7623" y="0"/>
                </a:lnTo>
                <a:lnTo>
                  <a:pt x="7623" y="0"/>
                </a:lnTo>
                <a:lnTo>
                  <a:pt x="7282" y="25"/>
                </a:lnTo>
                <a:lnTo>
                  <a:pt x="6990" y="98"/>
                </a:lnTo>
                <a:lnTo>
                  <a:pt x="6746" y="171"/>
                </a:lnTo>
                <a:lnTo>
                  <a:pt x="6527" y="293"/>
                </a:lnTo>
                <a:lnTo>
                  <a:pt x="6332" y="390"/>
                </a:lnTo>
                <a:lnTo>
                  <a:pt x="6186" y="536"/>
                </a:lnTo>
                <a:lnTo>
                  <a:pt x="6040" y="658"/>
                </a:lnTo>
                <a:lnTo>
                  <a:pt x="5943" y="780"/>
                </a:lnTo>
                <a:lnTo>
                  <a:pt x="5943" y="780"/>
                </a:lnTo>
                <a:lnTo>
                  <a:pt x="5943" y="780"/>
                </a:lnTo>
                <a:lnTo>
                  <a:pt x="5943" y="780"/>
                </a:lnTo>
                <a:lnTo>
                  <a:pt x="5553" y="853"/>
                </a:lnTo>
                <a:lnTo>
                  <a:pt x="5188" y="975"/>
                </a:lnTo>
                <a:lnTo>
                  <a:pt x="4871" y="1145"/>
                </a:lnTo>
                <a:lnTo>
                  <a:pt x="4603" y="1316"/>
                </a:lnTo>
                <a:lnTo>
                  <a:pt x="4360" y="1535"/>
                </a:lnTo>
                <a:lnTo>
                  <a:pt x="4165" y="1754"/>
                </a:lnTo>
                <a:lnTo>
                  <a:pt x="4019" y="2022"/>
                </a:lnTo>
                <a:lnTo>
                  <a:pt x="3897" y="2290"/>
                </a:lnTo>
                <a:lnTo>
                  <a:pt x="3799" y="2558"/>
                </a:lnTo>
                <a:lnTo>
                  <a:pt x="3726" y="2826"/>
                </a:lnTo>
                <a:lnTo>
                  <a:pt x="3678" y="3118"/>
                </a:lnTo>
                <a:lnTo>
                  <a:pt x="3629" y="3410"/>
                </a:lnTo>
                <a:lnTo>
                  <a:pt x="3629" y="3702"/>
                </a:lnTo>
                <a:lnTo>
                  <a:pt x="3629" y="3970"/>
                </a:lnTo>
                <a:lnTo>
                  <a:pt x="3678" y="4482"/>
                </a:lnTo>
                <a:lnTo>
                  <a:pt x="3678" y="4482"/>
                </a:lnTo>
                <a:lnTo>
                  <a:pt x="3678" y="4506"/>
                </a:lnTo>
                <a:lnTo>
                  <a:pt x="3678" y="4506"/>
                </a:lnTo>
                <a:lnTo>
                  <a:pt x="3556" y="4555"/>
                </a:lnTo>
                <a:lnTo>
                  <a:pt x="3459" y="4652"/>
                </a:lnTo>
                <a:lnTo>
                  <a:pt x="3385" y="4798"/>
                </a:lnTo>
                <a:lnTo>
                  <a:pt x="3312" y="4969"/>
                </a:lnTo>
                <a:lnTo>
                  <a:pt x="3264" y="5164"/>
                </a:lnTo>
                <a:lnTo>
                  <a:pt x="3239" y="5383"/>
                </a:lnTo>
                <a:lnTo>
                  <a:pt x="3215" y="5626"/>
                </a:lnTo>
                <a:lnTo>
                  <a:pt x="3239" y="5870"/>
                </a:lnTo>
                <a:lnTo>
                  <a:pt x="3239" y="5870"/>
                </a:lnTo>
                <a:lnTo>
                  <a:pt x="3288" y="6138"/>
                </a:lnTo>
                <a:lnTo>
                  <a:pt x="3337" y="6381"/>
                </a:lnTo>
                <a:lnTo>
                  <a:pt x="3434" y="6601"/>
                </a:lnTo>
                <a:lnTo>
                  <a:pt x="3532" y="6771"/>
                </a:lnTo>
                <a:lnTo>
                  <a:pt x="3629" y="6942"/>
                </a:lnTo>
                <a:lnTo>
                  <a:pt x="3751" y="7039"/>
                </a:lnTo>
                <a:lnTo>
                  <a:pt x="3873" y="7112"/>
                </a:lnTo>
                <a:lnTo>
                  <a:pt x="4019" y="7112"/>
                </a:lnTo>
                <a:lnTo>
                  <a:pt x="4019" y="7112"/>
                </a:lnTo>
                <a:lnTo>
                  <a:pt x="4092" y="7088"/>
                </a:lnTo>
                <a:lnTo>
                  <a:pt x="4092" y="7088"/>
                </a:lnTo>
                <a:lnTo>
                  <a:pt x="4262" y="7502"/>
                </a:lnTo>
                <a:lnTo>
                  <a:pt x="4481" y="7867"/>
                </a:lnTo>
                <a:lnTo>
                  <a:pt x="4701" y="8232"/>
                </a:lnTo>
                <a:lnTo>
                  <a:pt x="4969" y="8573"/>
                </a:lnTo>
                <a:lnTo>
                  <a:pt x="5236" y="8866"/>
                </a:lnTo>
                <a:lnTo>
                  <a:pt x="5529" y="9133"/>
                </a:lnTo>
                <a:lnTo>
                  <a:pt x="5845" y="9377"/>
                </a:lnTo>
                <a:lnTo>
                  <a:pt x="6162" y="9596"/>
                </a:lnTo>
                <a:lnTo>
                  <a:pt x="6162" y="10668"/>
                </a:lnTo>
                <a:lnTo>
                  <a:pt x="6162" y="10668"/>
                </a:lnTo>
                <a:lnTo>
                  <a:pt x="5650" y="10717"/>
                </a:lnTo>
                <a:lnTo>
                  <a:pt x="5650" y="10717"/>
                </a:lnTo>
                <a:lnTo>
                  <a:pt x="5066" y="10814"/>
                </a:lnTo>
                <a:lnTo>
                  <a:pt x="4506" y="10936"/>
                </a:lnTo>
                <a:lnTo>
                  <a:pt x="3946" y="11058"/>
                </a:lnTo>
                <a:lnTo>
                  <a:pt x="3410" y="11228"/>
                </a:lnTo>
                <a:lnTo>
                  <a:pt x="2923" y="11423"/>
                </a:lnTo>
                <a:lnTo>
                  <a:pt x="2460" y="11642"/>
                </a:lnTo>
                <a:lnTo>
                  <a:pt x="2022" y="11886"/>
                </a:lnTo>
                <a:lnTo>
                  <a:pt x="1632" y="12153"/>
                </a:lnTo>
                <a:lnTo>
                  <a:pt x="1267" y="12421"/>
                </a:lnTo>
                <a:lnTo>
                  <a:pt x="950" y="12738"/>
                </a:lnTo>
                <a:lnTo>
                  <a:pt x="682" y="13079"/>
                </a:lnTo>
                <a:lnTo>
                  <a:pt x="439" y="13420"/>
                </a:lnTo>
                <a:lnTo>
                  <a:pt x="268" y="13810"/>
                </a:lnTo>
                <a:lnTo>
                  <a:pt x="122" y="14199"/>
                </a:lnTo>
                <a:lnTo>
                  <a:pt x="49" y="14638"/>
                </a:lnTo>
                <a:lnTo>
                  <a:pt x="0" y="15076"/>
                </a:lnTo>
                <a:lnTo>
                  <a:pt x="0" y="15076"/>
                </a:lnTo>
                <a:lnTo>
                  <a:pt x="49" y="15125"/>
                </a:lnTo>
                <a:lnTo>
                  <a:pt x="244" y="15222"/>
                </a:lnTo>
                <a:lnTo>
                  <a:pt x="414" y="15295"/>
                </a:lnTo>
                <a:lnTo>
                  <a:pt x="633" y="15393"/>
                </a:lnTo>
                <a:lnTo>
                  <a:pt x="901" y="15490"/>
                </a:lnTo>
                <a:lnTo>
                  <a:pt x="1267" y="15563"/>
                </a:lnTo>
                <a:lnTo>
                  <a:pt x="1705" y="15661"/>
                </a:lnTo>
                <a:lnTo>
                  <a:pt x="2216" y="15758"/>
                </a:lnTo>
                <a:lnTo>
                  <a:pt x="2825" y="15831"/>
                </a:lnTo>
                <a:lnTo>
                  <a:pt x="3556" y="15928"/>
                </a:lnTo>
                <a:lnTo>
                  <a:pt x="4384" y="15977"/>
                </a:lnTo>
                <a:lnTo>
                  <a:pt x="5309" y="16026"/>
                </a:lnTo>
                <a:lnTo>
                  <a:pt x="6381" y="16050"/>
                </a:lnTo>
                <a:lnTo>
                  <a:pt x="7599" y="16075"/>
                </a:lnTo>
                <a:lnTo>
                  <a:pt x="7599" y="16075"/>
                </a:lnTo>
                <a:lnTo>
                  <a:pt x="8792" y="16050"/>
                </a:lnTo>
                <a:lnTo>
                  <a:pt x="9864" y="16026"/>
                </a:lnTo>
                <a:lnTo>
                  <a:pt x="10814" y="15977"/>
                </a:lnTo>
                <a:lnTo>
                  <a:pt x="11642" y="15928"/>
                </a:lnTo>
                <a:lnTo>
                  <a:pt x="12372" y="15831"/>
                </a:lnTo>
                <a:lnTo>
                  <a:pt x="12981" y="15758"/>
                </a:lnTo>
                <a:lnTo>
                  <a:pt x="13517" y="15661"/>
                </a:lnTo>
                <a:lnTo>
                  <a:pt x="13955" y="15563"/>
                </a:lnTo>
                <a:lnTo>
                  <a:pt x="14321" y="15490"/>
                </a:lnTo>
                <a:lnTo>
                  <a:pt x="14613" y="15393"/>
                </a:lnTo>
                <a:lnTo>
                  <a:pt x="14832" y="15295"/>
                </a:lnTo>
                <a:lnTo>
                  <a:pt x="15003" y="15222"/>
                </a:lnTo>
                <a:lnTo>
                  <a:pt x="15173" y="15125"/>
                </a:lnTo>
                <a:lnTo>
                  <a:pt x="15246" y="15076"/>
                </a:lnTo>
                <a:lnTo>
                  <a:pt x="15246" y="15076"/>
                </a:lnTo>
                <a:lnTo>
                  <a:pt x="15198" y="14613"/>
                </a:lnTo>
                <a:lnTo>
                  <a:pt x="15125" y="14175"/>
                </a:lnTo>
                <a:lnTo>
                  <a:pt x="15003" y="13761"/>
                </a:lnTo>
                <a:lnTo>
                  <a:pt x="14832" y="13371"/>
                </a:lnTo>
                <a:lnTo>
                  <a:pt x="14589" y="13006"/>
                </a:lnTo>
                <a:lnTo>
                  <a:pt x="14321" y="12665"/>
                </a:lnTo>
                <a:lnTo>
                  <a:pt x="14004" y="12373"/>
                </a:lnTo>
                <a:lnTo>
                  <a:pt x="13639" y="12080"/>
                </a:lnTo>
                <a:lnTo>
                  <a:pt x="13249" y="11813"/>
                </a:lnTo>
                <a:lnTo>
                  <a:pt x="12811" y="11593"/>
                </a:lnTo>
                <a:lnTo>
                  <a:pt x="12324" y="11374"/>
                </a:lnTo>
                <a:lnTo>
                  <a:pt x="11812" y="11204"/>
                </a:lnTo>
                <a:lnTo>
                  <a:pt x="11252" y="11033"/>
                </a:lnTo>
                <a:lnTo>
                  <a:pt x="10668" y="10911"/>
                </a:lnTo>
                <a:lnTo>
                  <a:pt x="10034" y="10790"/>
                </a:lnTo>
                <a:lnTo>
                  <a:pt x="9401" y="10717"/>
                </a:lnTo>
                <a:lnTo>
                  <a:pt x="9401" y="10717"/>
                </a:lnTo>
                <a:close/>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Slide Number Placeholder 5">
            <a:extLst>
              <a:ext uri="{FF2B5EF4-FFF2-40B4-BE49-F238E27FC236}">
                <a16:creationId xmlns:a16="http://schemas.microsoft.com/office/drawing/2014/main" id="{F85E3F0B-A8F0-26BC-6E9B-4A3FAF644B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dirty="0"/>
          </a:p>
        </p:txBody>
      </p:sp>
    </p:spTree>
    <p:extLst>
      <p:ext uri="{BB962C8B-B14F-4D97-AF65-F5344CB8AC3E}">
        <p14:creationId xmlns:p14="http://schemas.microsoft.com/office/powerpoint/2010/main" val="200496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80ECB-7C8B-175F-60A2-922E48CF5D17}"/>
              </a:ext>
            </a:extLst>
          </p:cNvPr>
          <p:cNvSpPr>
            <a:spLocks noGrp="1"/>
          </p:cNvSpPr>
          <p:nvPr>
            <p:ph type="title"/>
          </p:nvPr>
        </p:nvSpPr>
        <p:spPr/>
        <p:txBody>
          <a:bodyPr/>
          <a:lstStyle/>
          <a:p>
            <a:r>
              <a:rPr lang="en-IN" dirty="0"/>
              <a:t>Usefulness of the Project</a:t>
            </a:r>
          </a:p>
        </p:txBody>
      </p:sp>
      <p:sp>
        <p:nvSpPr>
          <p:cNvPr id="3" name="Text Placeholder 2">
            <a:extLst>
              <a:ext uri="{FF2B5EF4-FFF2-40B4-BE49-F238E27FC236}">
                <a16:creationId xmlns:a16="http://schemas.microsoft.com/office/drawing/2014/main" id="{24CE23C1-6B3C-44B1-7086-85F81136B2AD}"/>
              </a:ext>
            </a:extLst>
          </p:cNvPr>
          <p:cNvSpPr>
            <a:spLocks noGrp="1"/>
          </p:cNvSpPr>
          <p:nvPr>
            <p:ph type="body" idx="1"/>
          </p:nvPr>
        </p:nvSpPr>
        <p:spPr/>
        <p:txBody>
          <a:bodyPr/>
          <a:lstStyle/>
          <a:p>
            <a:endParaRPr lang="en-IN" dirty="0"/>
          </a:p>
          <a:p>
            <a:r>
              <a:rPr lang="en-IN" dirty="0"/>
              <a:t>Important in safety of system.</a:t>
            </a:r>
          </a:p>
          <a:p>
            <a:r>
              <a:rPr lang="en-IN" dirty="0"/>
              <a:t>Easier installing process.</a:t>
            </a:r>
          </a:p>
          <a:p>
            <a:r>
              <a:rPr lang="en-IN" dirty="0"/>
              <a:t>Flexible and expandable.</a:t>
            </a:r>
          </a:p>
          <a:p>
            <a:r>
              <a:rPr lang="en-IN" dirty="0"/>
              <a:t>Remote monitorization.</a:t>
            </a:r>
          </a:p>
          <a:p>
            <a:r>
              <a:rPr lang="en-IN" dirty="0"/>
              <a:t>Cost effective.</a:t>
            </a:r>
          </a:p>
          <a:p>
            <a:r>
              <a:rPr lang="en-IN" dirty="0"/>
              <a:t>Failure of one node does not affect other.</a:t>
            </a:r>
          </a:p>
          <a:p>
            <a:endParaRPr lang="en-IN" dirty="0"/>
          </a:p>
          <a:p>
            <a:endParaRPr lang="en-IN" dirty="0"/>
          </a:p>
        </p:txBody>
      </p:sp>
      <p:grpSp>
        <p:nvGrpSpPr>
          <p:cNvPr id="5" name="Google Shape;934;p46">
            <a:extLst>
              <a:ext uri="{FF2B5EF4-FFF2-40B4-BE49-F238E27FC236}">
                <a16:creationId xmlns:a16="http://schemas.microsoft.com/office/drawing/2014/main" id="{D048A9BC-E5E8-4DB3-69E8-46CB0E94C661}"/>
              </a:ext>
            </a:extLst>
          </p:cNvPr>
          <p:cNvGrpSpPr/>
          <p:nvPr/>
        </p:nvGrpSpPr>
        <p:grpSpPr>
          <a:xfrm>
            <a:off x="321422" y="609167"/>
            <a:ext cx="333016" cy="333016"/>
            <a:chOff x="2594050" y="1631825"/>
            <a:chExt cx="439625" cy="439625"/>
          </a:xfrm>
        </p:grpSpPr>
        <p:sp>
          <p:nvSpPr>
            <p:cNvPr id="6" name="Google Shape;935;p46">
              <a:extLst>
                <a:ext uri="{FF2B5EF4-FFF2-40B4-BE49-F238E27FC236}">
                  <a16:creationId xmlns:a16="http://schemas.microsoft.com/office/drawing/2014/main" id="{E9475C7D-AF62-D858-B479-E6274923891B}"/>
                </a:ext>
              </a:extLst>
            </p:cNvPr>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936;p46">
              <a:extLst>
                <a:ext uri="{FF2B5EF4-FFF2-40B4-BE49-F238E27FC236}">
                  <a16:creationId xmlns:a16="http://schemas.microsoft.com/office/drawing/2014/main" id="{A8ACE37F-7F20-6982-E5AA-9A7277366B5D}"/>
                </a:ext>
              </a:extLst>
            </p:cNvPr>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937;p46">
              <a:extLst>
                <a:ext uri="{FF2B5EF4-FFF2-40B4-BE49-F238E27FC236}">
                  <a16:creationId xmlns:a16="http://schemas.microsoft.com/office/drawing/2014/main" id="{A6F12151-E2D9-98E9-A515-9A405315E96B}"/>
                </a:ext>
              </a:extLst>
            </p:cNvPr>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938;p46">
              <a:extLst>
                <a:ext uri="{FF2B5EF4-FFF2-40B4-BE49-F238E27FC236}">
                  <a16:creationId xmlns:a16="http://schemas.microsoft.com/office/drawing/2014/main" id="{B471FA89-6CBD-CFFD-3704-AF035A928D65}"/>
                </a:ext>
              </a:extLst>
            </p:cNvPr>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 name="Slide Number Placeholder 9">
            <a:extLst>
              <a:ext uri="{FF2B5EF4-FFF2-40B4-BE49-F238E27FC236}">
                <a16:creationId xmlns:a16="http://schemas.microsoft.com/office/drawing/2014/main" id="{0239E9E0-ECF5-25A1-C5A1-8259E9F50C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dirty="0"/>
          </a:p>
        </p:txBody>
      </p:sp>
    </p:spTree>
    <p:extLst>
      <p:ext uri="{BB962C8B-B14F-4D97-AF65-F5344CB8AC3E}">
        <p14:creationId xmlns:p14="http://schemas.microsoft.com/office/powerpoint/2010/main" val="3139793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9C00-1E0A-7E11-18A8-60947AB4F7C5}"/>
              </a:ext>
            </a:extLst>
          </p:cNvPr>
          <p:cNvSpPr>
            <a:spLocks noGrp="1"/>
          </p:cNvSpPr>
          <p:nvPr>
            <p:ph type="title"/>
          </p:nvPr>
        </p:nvSpPr>
        <p:spPr/>
        <p:txBody>
          <a:bodyPr/>
          <a:lstStyle/>
          <a:p>
            <a:r>
              <a:rPr lang="en-US" dirty="0"/>
              <a:t>Social impact of the Project</a:t>
            </a:r>
            <a:endParaRPr lang="en-IN" dirty="0"/>
          </a:p>
        </p:txBody>
      </p:sp>
      <p:sp>
        <p:nvSpPr>
          <p:cNvPr id="3" name="Text Placeholder 2">
            <a:extLst>
              <a:ext uri="{FF2B5EF4-FFF2-40B4-BE49-F238E27FC236}">
                <a16:creationId xmlns:a16="http://schemas.microsoft.com/office/drawing/2014/main" id="{E4D9E27E-AEF4-F58D-A77E-6B41B05FAE3A}"/>
              </a:ext>
            </a:extLst>
          </p:cNvPr>
          <p:cNvSpPr>
            <a:spLocks noGrp="1"/>
          </p:cNvSpPr>
          <p:nvPr>
            <p:ph type="body" idx="1"/>
          </p:nvPr>
        </p:nvSpPr>
        <p:spPr>
          <a:ln>
            <a:noFill/>
          </a:ln>
        </p:spPr>
        <p:txBody>
          <a:bodyPr/>
          <a:lstStyle/>
          <a:p>
            <a:r>
              <a:rPr lang="en-IN" dirty="0"/>
              <a:t>Improved security.</a:t>
            </a:r>
          </a:p>
          <a:p>
            <a:r>
              <a:rPr lang="en-IN" dirty="0"/>
              <a:t>Faster response.</a:t>
            </a:r>
          </a:p>
          <a:p>
            <a:r>
              <a:rPr lang="en-IN" dirty="0"/>
              <a:t>Property Protection.</a:t>
            </a:r>
          </a:p>
          <a:p>
            <a:r>
              <a:rPr lang="en-IN" dirty="0"/>
              <a:t>Reduced false alarms.</a:t>
            </a:r>
          </a:p>
          <a:p>
            <a:r>
              <a:rPr lang="en-IN" dirty="0"/>
              <a:t>Environmental impact</a:t>
            </a:r>
          </a:p>
        </p:txBody>
      </p:sp>
      <p:grpSp>
        <p:nvGrpSpPr>
          <p:cNvPr id="38" name="Google Shape;1455;p47">
            <a:extLst>
              <a:ext uri="{FF2B5EF4-FFF2-40B4-BE49-F238E27FC236}">
                <a16:creationId xmlns:a16="http://schemas.microsoft.com/office/drawing/2014/main" id="{933C8751-82D7-9C3F-3A4D-7A74453E5867}"/>
              </a:ext>
            </a:extLst>
          </p:cNvPr>
          <p:cNvGrpSpPr/>
          <p:nvPr/>
        </p:nvGrpSpPr>
        <p:grpSpPr>
          <a:xfrm>
            <a:off x="181645" y="529947"/>
            <a:ext cx="460705" cy="491455"/>
            <a:chOff x="7638277" y="937343"/>
            <a:chExt cx="744273" cy="793950"/>
          </a:xfrm>
        </p:grpSpPr>
        <p:sp>
          <p:nvSpPr>
            <p:cNvPr id="39" name="Google Shape;1456;p47">
              <a:extLst>
                <a:ext uri="{FF2B5EF4-FFF2-40B4-BE49-F238E27FC236}">
                  <a16:creationId xmlns:a16="http://schemas.microsoft.com/office/drawing/2014/main" id="{D0E9CB3B-9B2C-1B5E-5356-8EB8686152B6}"/>
                </a:ext>
              </a:extLst>
            </p:cNvPr>
            <p:cNvSpPr/>
            <p:nvPr/>
          </p:nvSpPr>
          <p:spPr>
            <a:xfrm>
              <a:off x="8012931" y="1079385"/>
              <a:ext cx="217151" cy="253479"/>
            </a:xfrm>
            <a:custGeom>
              <a:avLst/>
              <a:gdLst/>
              <a:ahLst/>
              <a:cxnLst/>
              <a:rect l="l" t="t" r="r" b="b"/>
              <a:pathLst>
                <a:path w="1085755" h="1267396" extrusionOk="0">
                  <a:moveTo>
                    <a:pt x="1058482" y="714947"/>
                  </a:moveTo>
                  <a:cubicBezTo>
                    <a:pt x="1013714" y="538416"/>
                    <a:pt x="885190" y="361632"/>
                    <a:pt x="705993" y="229870"/>
                  </a:cubicBezTo>
                  <a:cubicBezTo>
                    <a:pt x="565277" y="126492"/>
                    <a:pt x="329184" y="3365"/>
                    <a:pt x="0" y="0"/>
                  </a:cubicBezTo>
                  <a:lnTo>
                    <a:pt x="0" y="1267397"/>
                  </a:lnTo>
                  <a:lnTo>
                    <a:pt x="1025144" y="1267397"/>
                  </a:lnTo>
                  <a:cubicBezTo>
                    <a:pt x="1092772" y="1073722"/>
                    <a:pt x="1103694" y="892810"/>
                    <a:pt x="1058482" y="714947"/>
                  </a:cubicBezTo>
                  <a:close/>
                </a:path>
              </a:pathLst>
            </a:custGeom>
            <a:solidFill>
              <a:schemeClr val="accent2"/>
            </a:solidFill>
            <a:ln>
              <a:solidFill>
                <a:schemeClr val="bg1"/>
              </a:solid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p:txBody>
        </p:sp>
        <p:sp>
          <p:nvSpPr>
            <p:cNvPr id="40" name="Google Shape;1457;p47">
              <a:extLst>
                <a:ext uri="{FF2B5EF4-FFF2-40B4-BE49-F238E27FC236}">
                  <a16:creationId xmlns:a16="http://schemas.microsoft.com/office/drawing/2014/main" id="{2007B758-7BC3-CC6E-9FA3-A7F827A67F18}"/>
                </a:ext>
              </a:extLst>
            </p:cNvPr>
            <p:cNvSpPr/>
            <p:nvPr/>
          </p:nvSpPr>
          <p:spPr>
            <a:xfrm>
              <a:off x="7789628" y="1079436"/>
              <a:ext cx="214318" cy="253428"/>
            </a:xfrm>
            <a:custGeom>
              <a:avLst/>
              <a:gdLst/>
              <a:ahLst/>
              <a:cxnLst/>
              <a:rect l="l" t="t" r="r" b="b"/>
              <a:pathLst>
                <a:path w="1071591" h="1267142" extrusionOk="0">
                  <a:moveTo>
                    <a:pt x="377536" y="231331"/>
                  </a:moveTo>
                  <a:cubicBezTo>
                    <a:pt x="199609" y="362839"/>
                    <a:pt x="71910" y="538988"/>
                    <a:pt x="27270" y="714693"/>
                  </a:cubicBezTo>
                  <a:cubicBezTo>
                    <a:pt x="-17942" y="892556"/>
                    <a:pt x="-7020" y="1073404"/>
                    <a:pt x="60671" y="1267143"/>
                  </a:cubicBezTo>
                  <a:lnTo>
                    <a:pt x="1071591" y="1267143"/>
                  </a:lnTo>
                  <a:lnTo>
                    <a:pt x="1071591" y="0"/>
                  </a:lnTo>
                  <a:cubicBezTo>
                    <a:pt x="748249" y="6794"/>
                    <a:pt x="516220" y="128905"/>
                    <a:pt x="377536" y="231331"/>
                  </a:cubicBezTo>
                  <a:close/>
                </a:path>
              </a:pathLst>
            </a:custGeom>
            <a:solidFill>
              <a:schemeClr val="accent1"/>
            </a:solidFill>
            <a:ln>
              <a:solidFill>
                <a:schemeClr val="bg1"/>
              </a:solid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p:txBody>
        </p:sp>
        <p:sp>
          <p:nvSpPr>
            <p:cNvPr id="41" name="Google Shape;1458;p47">
              <a:extLst>
                <a:ext uri="{FF2B5EF4-FFF2-40B4-BE49-F238E27FC236}">
                  <a16:creationId xmlns:a16="http://schemas.microsoft.com/office/drawing/2014/main" id="{54B9C223-7749-85F3-75A7-D9A22E40BD44}"/>
                </a:ext>
              </a:extLst>
            </p:cNvPr>
            <p:cNvSpPr/>
            <p:nvPr/>
          </p:nvSpPr>
          <p:spPr>
            <a:xfrm>
              <a:off x="8012931" y="1341261"/>
              <a:ext cx="202133" cy="270446"/>
            </a:xfrm>
            <a:custGeom>
              <a:avLst/>
              <a:gdLst/>
              <a:ahLst/>
              <a:cxnLst/>
              <a:rect l="l" t="t" r="r" b="b"/>
              <a:pathLst>
                <a:path w="1010666" h="1352232" extrusionOk="0">
                  <a:moveTo>
                    <a:pt x="326390" y="1351915"/>
                  </a:moveTo>
                  <a:cubicBezTo>
                    <a:pt x="447929" y="1351090"/>
                    <a:pt x="476758" y="1318387"/>
                    <a:pt x="497142" y="1226757"/>
                  </a:cubicBezTo>
                  <a:cubicBezTo>
                    <a:pt x="505079" y="1190943"/>
                    <a:pt x="512382" y="1152208"/>
                    <a:pt x="520129" y="1111187"/>
                  </a:cubicBezTo>
                  <a:cubicBezTo>
                    <a:pt x="540004" y="1005586"/>
                    <a:pt x="562610" y="885888"/>
                    <a:pt x="602869" y="793750"/>
                  </a:cubicBezTo>
                  <a:cubicBezTo>
                    <a:pt x="721932" y="514413"/>
                    <a:pt x="897255" y="279463"/>
                    <a:pt x="1010666" y="0"/>
                  </a:cubicBezTo>
                  <a:lnTo>
                    <a:pt x="0" y="0"/>
                  </a:lnTo>
                  <a:lnTo>
                    <a:pt x="0" y="1351725"/>
                  </a:lnTo>
                  <a:lnTo>
                    <a:pt x="12573" y="1351598"/>
                  </a:lnTo>
                  <a:lnTo>
                    <a:pt x="12573" y="1352169"/>
                  </a:lnTo>
                  <a:cubicBezTo>
                    <a:pt x="41974" y="1352169"/>
                    <a:pt x="71438" y="1352169"/>
                    <a:pt x="100838" y="1352233"/>
                  </a:cubicBezTo>
                  <a:lnTo>
                    <a:pt x="118364" y="1351915"/>
                  </a:lnTo>
                  <a:cubicBezTo>
                    <a:pt x="162116" y="1351979"/>
                    <a:pt x="284671" y="1352487"/>
                    <a:pt x="326390" y="1351915"/>
                  </a:cubicBezTo>
                  <a:close/>
                </a:path>
              </a:pathLst>
            </a:custGeom>
            <a:solidFill>
              <a:schemeClr val="accent3"/>
            </a:solidFill>
            <a:ln>
              <a:solidFill>
                <a:schemeClr val="bg1"/>
              </a:solid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p:txBody>
        </p:sp>
        <p:sp>
          <p:nvSpPr>
            <p:cNvPr id="42" name="Google Shape;1459;p47">
              <a:extLst>
                <a:ext uri="{FF2B5EF4-FFF2-40B4-BE49-F238E27FC236}">
                  <a16:creationId xmlns:a16="http://schemas.microsoft.com/office/drawing/2014/main" id="{C3BEE9C3-53C6-93B8-02BD-B06B6A020B44}"/>
                </a:ext>
              </a:extLst>
            </p:cNvPr>
            <p:cNvSpPr/>
            <p:nvPr/>
          </p:nvSpPr>
          <p:spPr>
            <a:xfrm>
              <a:off x="7804733" y="1341261"/>
              <a:ext cx="199288" cy="270439"/>
            </a:xfrm>
            <a:custGeom>
              <a:avLst/>
              <a:gdLst/>
              <a:ahLst/>
              <a:cxnLst/>
              <a:rect l="l" t="t" r="r" b="b"/>
              <a:pathLst>
                <a:path w="996442" h="1352197" extrusionOk="0">
                  <a:moveTo>
                    <a:pt x="996442" y="1352169"/>
                  </a:moveTo>
                  <a:lnTo>
                    <a:pt x="996442" y="0"/>
                  </a:lnTo>
                  <a:lnTo>
                    <a:pt x="0" y="0"/>
                  </a:lnTo>
                  <a:cubicBezTo>
                    <a:pt x="113538" y="279591"/>
                    <a:pt x="288671" y="514287"/>
                    <a:pt x="407797" y="793750"/>
                  </a:cubicBezTo>
                  <a:cubicBezTo>
                    <a:pt x="448056" y="885888"/>
                    <a:pt x="470662" y="1005586"/>
                    <a:pt x="490601" y="1111250"/>
                  </a:cubicBezTo>
                  <a:cubicBezTo>
                    <a:pt x="498348" y="1152208"/>
                    <a:pt x="505651" y="1190943"/>
                    <a:pt x="513588" y="1226757"/>
                  </a:cubicBezTo>
                  <a:cubicBezTo>
                    <a:pt x="533908" y="1329246"/>
                    <a:pt x="580580" y="1351153"/>
                    <a:pt x="682561" y="1352169"/>
                  </a:cubicBezTo>
                  <a:cubicBezTo>
                    <a:pt x="774002" y="1352169"/>
                    <a:pt x="905256" y="1352233"/>
                    <a:pt x="996442" y="1352169"/>
                  </a:cubicBezTo>
                  <a:close/>
                </a:path>
              </a:pathLst>
            </a:custGeom>
            <a:solidFill>
              <a:schemeClr val="accent4"/>
            </a:solidFill>
            <a:ln>
              <a:solidFill>
                <a:schemeClr val="bg1"/>
              </a:solid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p:txBody>
        </p:sp>
        <p:grpSp>
          <p:nvGrpSpPr>
            <p:cNvPr id="43" name="Google Shape;1460;p47">
              <a:extLst>
                <a:ext uri="{FF2B5EF4-FFF2-40B4-BE49-F238E27FC236}">
                  <a16:creationId xmlns:a16="http://schemas.microsoft.com/office/drawing/2014/main" id="{CC0AC427-AB25-2748-EC02-7BAC5B5EEC4F}"/>
                </a:ext>
              </a:extLst>
            </p:cNvPr>
            <p:cNvGrpSpPr/>
            <p:nvPr/>
          </p:nvGrpSpPr>
          <p:grpSpPr>
            <a:xfrm>
              <a:off x="7638277" y="937343"/>
              <a:ext cx="744273" cy="793950"/>
              <a:chOff x="6565437" y="1588001"/>
              <a:chExt cx="744273" cy="793950"/>
            </a:xfrm>
          </p:grpSpPr>
          <p:sp>
            <p:nvSpPr>
              <p:cNvPr id="44" name="Google Shape;1461;p47">
                <a:extLst>
                  <a:ext uri="{FF2B5EF4-FFF2-40B4-BE49-F238E27FC236}">
                    <a16:creationId xmlns:a16="http://schemas.microsoft.com/office/drawing/2014/main" id="{A29BCDBC-9721-B997-939D-A89ED8AEBA9A}"/>
                  </a:ext>
                </a:extLst>
              </p:cNvPr>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5" name="Google Shape;1462;p47">
                <a:extLst>
                  <a:ext uri="{FF2B5EF4-FFF2-40B4-BE49-F238E27FC236}">
                    <a16:creationId xmlns:a16="http://schemas.microsoft.com/office/drawing/2014/main" id="{8B3562F9-C897-905D-0636-8C9225351455}"/>
                  </a:ext>
                </a:extLst>
              </p:cNvPr>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6" name="Google Shape;1463;p47">
                <a:extLst>
                  <a:ext uri="{FF2B5EF4-FFF2-40B4-BE49-F238E27FC236}">
                    <a16:creationId xmlns:a16="http://schemas.microsoft.com/office/drawing/2014/main" id="{F011CDD0-AB00-B0DE-CC5A-E62961C7F330}"/>
                  </a:ext>
                </a:extLst>
              </p:cNvPr>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7" name="Google Shape;1464;p47">
                <a:extLst>
                  <a:ext uri="{FF2B5EF4-FFF2-40B4-BE49-F238E27FC236}">
                    <a16:creationId xmlns:a16="http://schemas.microsoft.com/office/drawing/2014/main" id="{4BB9449D-E70F-342B-8731-494829E9C84E}"/>
                  </a:ext>
                </a:extLst>
              </p:cNvPr>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8" name="Google Shape;1465;p47">
                <a:extLst>
                  <a:ext uri="{FF2B5EF4-FFF2-40B4-BE49-F238E27FC236}">
                    <a16:creationId xmlns:a16="http://schemas.microsoft.com/office/drawing/2014/main" id="{396787CC-00DF-BD3A-1A26-F35C94591912}"/>
                  </a:ext>
                </a:extLst>
              </p:cNvPr>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9" name="Google Shape;1466;p47">
                <a:extLst>
                  <a:ext uri="{FF2B5EF4-FFF2-40B4-BE49-F238E27FC236}">
                    <a16:creationId xmlns:a16="http://schemas.microsoft.com/office/drawing/2014/main" id="{7B6B22B2-9263-67FE-1154-88D11A11B70E}"/>
                  </a:ext>
                </a:extLst>
              </p:cNvPr>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50" name="Google Shape;1467;p47">
                <a:extLst>
                  <a:ext uri="{FF2B5EF4-FFF2-40B4-BE49-F238E27FC236}">
                    <a16:creationId xmlns:a16="http://schemas.microsoft.com/office/drawing/2014/main" id="{EE4AE015-BDFE-4C1E-0A4A-4583B547F57B}"/>
                  </a:ext>
                </a:extLst>
              </p:cNvPr>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51" name="Google Shape;1468;p47">
                <a:extLst>
                  <a:ext uri="{FF2B5EF4-FFF2-40B4-BE49-F238E27FC236}">
                    <a16:creationId xmlns:a16="http://schemas.microsoft.com/office/drawing/2014/main" id="{06502B66-CB4A-BAD6-C245-F67AB5011331}"/>
                  </a:ext>
                </a:extLst>
              </p:cNvPr>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52" name="Google Shape;1469;p47">
                <a:extLst>
                  <a:ext uri="{FF2B5EF4-FFF2-40B4-BE49-F238E27FC236}">
                    <a16:creationId xmlns:a16="http://schemas.microsoft.com/office/drawing/2014/main" id="{F94B3DAC-CF2F-4281-6CDC-65B4AA1573DD}"/>
                  </a:ext>
                </a:extLst>
              </p:cNvPr>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53" name="Google Shape;1470;p47">
                <a:extLst>
                  <a:ext uri="{FF2B5EF4-FFF2-40B4-BE49-F238E27FC236}">
                    <a16:creationId xmlns:a16="http://schemas.microsoft.com/office/drawing/2014/main" id="{75631BB0-9FC3-64E4-3575-BBD152D5B842}"/>
                  </a:ext>
                </a:extLst>
              </p:cNvPr>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solidFill>
                  <a:schemeClr val="bg1"/>
                </a:solid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grpSp>
      </p:grpSp>
      <p:sp>
        <p:nvSpPr>
          <p:cNvPr id="54" name="Slide Number Placeholder 53">
            <a:extLst>
              <a:ext uri="{FF2B5EF4-FFF2-40B4-BE49-F238E27FC236}">
                <a16:creationId xmlns:a16="http://schemas.microsoft.com/office/drawing/2014/main" id="{B8409672-84AC-360C-8AF0-08DD0016CC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dirty="0"/>
          </a:p>
        </p:txBody>
      </p:sp>
    </p:spTree>
    <p:extLst>
      <p:ext uri="{BB962C8B-B14F-4D97-AF65-F5344CB8AC3E}">
        <p14:creationId xmlns:p14="http://schemas.microsoft.com/office/powerpoint/2010/main" val="1603485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E54BC-EABE-E7AF-800F-42E344381DF8}"/>
              </a:ext>
            </a:extLst>
          </p:cNvPr>
          <p:cNvSpPr>
            <a:spLocks noGrp="1"/>
          </p:cNvSpPr>
          <p:nvPr>
            <p:ph type="title"/>
          </p:nvPr>
        </p:nvSpPr>
        <p:spPr/>
        <p:txBody>
          <a:bodyPr/>
          <a:lstStyle/>
          <a:p>
            <a:r>
              <a:rPr lang="en-US" dirty="0"/>
              <a:t>Objectives defined for the project</a:t>
            </a:r>
            <a:endParaRPr lang="en-IN" dirty="0"/>
          </a:p>
        </p:txBody>
      </p:sp>
      <p:sp>
        <p:nvSpPr>
          <p:cNvPr id="3" name="Text Placeholder 2">
            <a:extLst>
              <a:ext uri="{FF2B5EF4-FFF2-40B4-BE49-F238E27FC236}">
                <a16:creationId xmlns:a16="http://schemas.microsoft.com/office/drawing/2014/main" id="{39789BE6-1169-4934-ECF2-B5F645156ED4}"/>
              </a:ext>
            </a:extLst>
          </p:cNvPr>
          <p:cNvSpPr>
            <a:spLocks noGrp="1"/>
          </p:cNvSpPr>
          <p:nvPr>
            <p:ph type="body" idx="1"/>
          </p:nvPr>
        </p:nvSpPr>
        <p:spPr/>
        <p:txBody>
          <a:bodyPr/>
          <a:lstStyle/>
          <a:p>
            <a:r>
              <a:rPr lang="en-IN" dirty="0"/>
              <a:t>Enhanced safety and early detection.</a:t>
            </a:r>
          </a:p>
          <a:p>
            <a:r>
              <a:rPr lang="en-IN" dirty="0"/>
              <a:t>Design system with redundant components and robust communication.</a:t>
            </a:r>
          </a:p>
          <a:p>
            <a:r>
              <a:rPr lang="en-IN" dirty="0"/>
              <a:t>Allows easy expansion and scalability without requiring complete system overhaul.</a:t>
            </a:r>
          </a:p>
          <a:p>
            <a:r>
              <a:rPr lang="en-IN" dirty="0"/>
              <a:t>Remote monitoring and alerts.</a:t>
            </a:r>
          </a:p>
        </p:txBody>
      </p:sp>
      <p:grpSp>
        <p:nvGrpSpPr>
          <p:cNvPr id="5" name="Google Shape;952;p46">
            <a:extLst>
              <a:ext uri="{FF2B5EF4-FFF2-40B4-BE49-F238E27FC236}">
                <a16:creationId xmlns:a16="http://schemas.microsoft.com/office/drawing/2014/main" id="{56D3021B-A1DE-B75B-A663-812505C9B645}"/>
              </a:ext>
            </a:extLst>
          </p:cNvPr>
          <p:cNvGrpSpPr/>
          <p:nvPr/>
        </p:nvGrpSpPr>
        <p:grpSpPr>
          <a:xfrm>
            <a:off x="259410" y="574066"/>
            <a:ext cx="442719" cy="403217"/>
            <a:chOff x="5961125" y="1623900"/>
            <a:chExt cx="427450" cy="448175"/>
          </a:xfrm>
        </p:grpSpPr>
        <p:sp>
          <p:nvSpPr>
            <p:cNvPr id="6" name="Google Shape;953;p46">
              <a:extLst>
                <a:ext uri="{FF2B5EF4-FFF2-40B4-BE49-F238E27FC236}">
                  <a16:creationId xmlns:a16="http://schemas.microsoft.com/office/drawing/2014/main" id="{151F20A9-5F18-6806-9737-FED4D2D8B69A}"/>
                </a:ext>
              </a:extLst>
            </p:cNvPr>
            <p:cNvSpPr/>
            <p:nvPr/>
          </p:nvSpPr>
          <p:spPr>
            <a:xfrm>
              <a:off x="5961125" y="1678700"/>
              <a:ext cx="376925" cy="376925"/>
            </a:xfrm>
            <a:custGeom>
              <a:avLst/>
              <a:gdLst/>
              <a:ahLst/>
              <a:cxnLst/>
              <a:rect l="l" t="t" r="r" b="b"/>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954;p46">
              <a:extLst>
                <a:ext uri="{FF2B5EF4-FFF2-40B4-BE49-F238E27FC236}">
                  <a16:creationId xmlns:a16="http://schemas.microsoft.com/office/drawing/2014/main" id="{3A943471-F3E1-9FC6-D911-C803970BF198}"/>
                </a:ext>
              </a:extLst>
            </p:cNvPr>
            <p:cNvSpPr/>
            <p:nvPr/>
          </p:nvSpPr>
          <p:spPr>
            <a:xfrm>
              <a:off x="6009825" y="1727425"/>
              <a:ext cx="279500" cy="279500"/>
            </a:xfrm>
            <a:custGeom>
              <a:avLst/>
              <a:gdLst/>
              <a:ahLst/>
              <a:cxnLst/>
              <a:rect l="l" t="t" r="r" b="b"/>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955;p46">
              <a:extLst>
                <a:ext uri="{FF2B5EF4-FFF2-40B4-BE49-F238E27FC236}">
                  <a16:creationId xmlns:a16="http://schemas.microsoft.com/office/drawing/2014/main" id="{D03B3AEB-32A8-8D8F-D514-D93872F913A5}"/>
                </a:ext>
              </a:extLst>
            </p:cNvPr>
            <p:cNvSpPr/>
            <p:nvPr/>
          </p:nvSpPr>
          <p:spPr>
            <a:xfrm>
              <a:off x="6107250" y="1824850"/>
              <a:ext cx="84650" cy="84650"/>
            </a:xfrm>
            <a:custGeom>
              <a:avLst/>
              <a:gdLst/>
              <a:ahLst/>
              <a:cxnLst/>
              <a:rect l="l" t="t" r="r" b="b"/>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956;p46">
              <a:extLst>
                <a:ext uri="{FF2B5EF4-FFF2-40B4-BE49-F238E27FC236}">
                  <a16:creationId xmlns:a16="http://schemas.microsoft.com/office/drawing/2014/main" id="{4D37C618-EAE7-EE90-1F68-D17CA2C387DE}"/>
                </a:ext>
              </a:extLst>
            </p:cNvPr>
            <p:cNvSpPr/>
            <p:nvPr/>
          </p:nvSpPr>
          <p:spPr>
            <a:xfrm>
              <a:off x="6058550" y="1776125"/>
              <a:ext cx="182075" cy="182075"/>
            </a:xfrm>
            <a:custGeom>
              <a:avLst/>
              <a:gdLst/>
              <a:ahLst/>
              <a:cxnLst/>
              <a:rect l="l" t="t" r="r" b="b"/>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957;p46">
              <a:extLst>
                <a:ext uri="{FF2B5EF4-FFF2-40B4-BE49-F238E27FC236}">
                  <a16:creationId xmlns:a16="http://schemas.microsoft.com/office/drawing/2014/main" id="{2D193A4B-D2A4-81FC-AD97-B26B27145239}"/>
                </a:ext>
              </a:extLst>
            </p:cNvPr>
            <p:cNvSpPr/>
            <p:nvPr/>
          </p:nvSpPr>
          <p:spPr>
            <a:xfrm>
              <a:off x="5971475" y="2001400"/>
              <a:ext cx="74925" cy="70675"/>
            </a:xfrm>
            <a:custGeom>
              <a:avLst/>
              <a:gdLst/>
              <a:ahLst/>
              <a:cxnLst/>
              <a:rect l="l" t="t" r="r" b="b"/>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958;p46">
              <a:extLst>
                <a:ext uri="{FF2B5EF4-FFF2-40B4-BE49-F238E27FC236}">
                  <a16:creationId xmlns:a16="http://schemas.microsoft.com/office/drawing/2014/main" id="{D01600DF-D025-8CA6-A11E-ECAFB8D284A5}"/>
                </a:ext>
              </a:extLst>
            </p:cNvPr>
            <p:cNvSpPr/>
            <p:nvPr/>
          </p:nvSpPr>
          <p:spPr>
            <a:xfrm>
              <a:off x="6253375" y="2001400"/>
              <a:ext cx="74325" cy="70675"/>
            </a:xfrm>
            <a:custGeom>
              <a:avLst/>
              <a:gdLst/>
              <a:ahLst/>
              <a:cxnLst/>
              <a:rect l="l" t="t" r="r" b="b"/>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959;p46">
              <a:extLst>
                <a:ext uri="{FF2B5EF4-FFF2-40B4-BE49-F238E27FC236}">
                  <a16:creationId xmlns:a16="http://schemas.microsoft.com/office/drawing/2014/main" id="{F21B9E76-A3CD-AC14-3CD9-ECD3293846CA}"/>
                </a:ext>
              </a:extLst>
            </p:cNvPr>
            <p:cNvSpPr/>
            <p:nvPr/>
          </p:nvSpPr>
          <p:spPr>
            <a:xfrm>
              <a:off x="6137700" y="1623900"/>
              <a:ext cx="250875" cy="255150"/>
            </a:xfrm>
            <a:custGeom>
              <a:avLst/>
              <a:gdLst/>
              <a:ahLst/>
              <a:cxnLst/>
              <a:rect l="l" t="t" r="r" b="b"/>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3" name="Slide Number Placeholder 12">
            <a:extLst>
              <a:ext uri="{FF2B5EF4-FFF2-40B4-BE49-F238E27FC236}">
                <a16:creationId xmlns:a16="http://schemas.microsoft.com/office/drawing/2014/main" id="{DA14359E-42EE-BB7E-5D1B-91B2D1AC15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dirty="0"/>
          </a:p>
        </p:txBody>
      </p:sp>
    </p:spTree>
    <p:extLst>
      <p:ext uri="{BB962C8B-B14F-4D97-AF65-F5344CB8AC3E}">
        <p14:creationId xmlns:p14="http://schemas.microsoft.com/office/powerpoint/2010/main" val="2144656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06FCE-F64F-FB83-0743-05982F05EFD0}"/>
              </a:ext>
            </a:extLst>
          </p:cNvPr>
          <p:cNvSpPr>
            <a:spLocks noGrp="1"/>
          </p:cNvSpPr>
          <p:nvPr>
            <p:ph type="title"/>
          </p:nvPr>
        </p:nvSpPr>
        <p:spPr/>
        <p:txBody>
          <a:bodyPr/>
          <a:lstStyle/>
          <a:p>
            <a:r>
              <a:rPr lang="en-US" dirty="0"/>
              <a:t>Resources Needed (Hardware and Software)</a:t>
            </a:r>
            <a:endParaRPr lang="en-IN" dirty="0"/>
          </a:p>
        </p:txBody>
      </p:sp>
      <p:sp>
        <p:nvSpPr>
          <p:cNvPr id="3" name="Text Placeholder 2">
            <a:extLst>
              <a:ext uri="{FF2B5EF4-FFF2-40B4-BE49-F238E27FC236}">
                <a16:creationId xmlns:a16="http://schemas.microsoft.com/office/drawing/2014/main" id="{3E8A7096-C160-9730-8AE9-59DE295B1252}"/>
              </a:ext>
            </a:extLst>
          </p:cNvPr>
          <p:cNvSpPr>
            <a:spLocks noGrp="1"/>
          </p:cNvSpPr>
          <p:nvPr>
            <p:ph type="body" idx="1"/>
          </p:nvPr>
        </p:nvSpPr>
        <p:spPr/>
        <p:txBody>
          <a:bodyPr/>
          <a:lstStyle/>
          <a:p>
            <a:r>
              <a:rPr lang="en-IN" dirty="0"/>
              <a:t>Software: Arduino software.</a:t>
            </a:r>
          </a:p>
          <a:p>
            <a:r>
              <a:rPr lang="en-IN" dirty="0"/>
              <a:t>Components: Arduino Nano, NRF24LO1</a:t>
            </a:r>
          </a:p>
          <a:p>
            <a:r>
              <a:rPr lang="en-IN" dirty="0"/>
              <a:t>Power Supply: Li ion Battery.</a:t>
            </a:r>
          </a:p>
          <a:p>
            <a:r>
              <a:rPr lang="en-IN" dirty="0"/>
              <a:t>Testing </a:t>
            </a:r>
            <a:r>
              <a:rPr lang="en-IN" dirty="0" err="1"/>
              <a:t>equipments</a:t>
            </a:r>
            <a:r>
              <a:rPr lang="en-IN" dirty="0"/>
              <a:t>.</a:t>
            </a:r>
          </a:p>
          <a:p>
            <a:r>
              <a:rPr lang="en-IN" dirty="0"/>
              <a:t>Emergency response plan</a:t>
            </a:r>
          </a:p>
          <a:p>
            <a:endParaRPr lang="en-IN" dirty="0"/>
          </a:p>
        </p:txBody>
      </p:sp>
      <p:grpSp>
        <p:nvGrpSpPr>
          <p:cNvPr id="16" name="Google Shape;1587;p47">
            <a:extLst>
              <a:ext uri="{FF2B5EF4-FFF2-40B4-BE49-F238E27FC236}">
                <a16:creationId xmlns:a16="http://schemas.microsoft.com/office/drawing/2014/main" id="{DD8FFFF3-3351-E9F9-3F31-07CA9957DBD8}"/>
              </a:ext>
            </a:extLst>
          </p:cNvPr>
          <p:cNvGrpSpPr/>
          <p:nvPr/>
        </p:nvGrpSpPr>
        <p:grpSpPr>
          <a:xfrm>
            <a:off x="286203" y="552826"/>
            <a:ext cx="445768" cy="445697"/>
            <a:chOff x="1674084" y="3214987"/>
            <a:chExt cx="720142" cy="720027"/>
          </a:xfrm>
        </p:grpSpPr>
        <p:sp>
          <p:nvSpPr>
            <p:cNvPr id="17" name="Google Shape;1588;p47">
              <a:extLst>
                <a:ext uri="{FF2B5EF4-FFF2-40B4-BE49-F238E27FC236}">
                  <a16:creationId xmlns:a16="http://schemas.microsoft.com/office/drawing/2014/main" id="{3667FAC8-5354-BBCD-850A-66AAC855F786}"/>
                </a:ext>
              </a:extLst>
            </p:cNvPr>
            <p:cNvSpPr/>
            <p:nvPr/>
          </p:nvSpPr>
          <p:spPr>
            <a:xfrm>
              <a:off x="1674084" y="3354958"/>
              <a:ext cx="179880" cy="21321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5"/>
                    <a:pt x="204" y="227"/>
                  </a:cubicBezTo>
                  <a:cubicBezTo>
                    <a:pt x="204" y="67"/>
                    <a:pt x="204" y="67"/>
                    <a:pt x="204" y="67"/>
                  </a:cubicBezTo>
                  <a:cubicBezTo>
                    <a:pt x="204" y="59"/>
                    <a:pt x="198" y="52"/>
                    <a:pt x="190" y="52"/>
                  </a:cubicBezTo>
                  <a:cubicBezTo>
                    <a:pt x="120" y="52"/>
                    <a:pt x="120" y="52"/>
                    <a:pt x="120" y="52"/>
                  </a:cubicBezTo>
                  <a:cubicBezTo>
                    <a:pt x="118" y="51"/>
                    <a:pt x="115" y="50"/>
                    <a:pt x="115" y="47"/>
                  </a:cubicBezTo>
                  <a:cubicBezTo>
                    <a:pt x="115" y="42"/>
                    <a:pt x="115" y="37"/>
                    <a:pt x="120" y="34"/>
                  </a:cubicBezTo>
                  <a:cubicBezTo>
                    <a:pt x="122" y="32"/>
                    <a:pt x="125" y="31"/>
                    <a:pt x="128" y="30"/>
                  </a:cubicBezTo>
                  <a:cubicBezTo>
                    <a:pt x="136" y="25"/>
                    <a:pt x="137" y="14"/>
                    <a:pt x="129" y="8"/>
                  </a:cubicBezTo>
                  <a:cubicBezTo>
                    <a:pt x="122" y="2"/>
                    <a:pt x="112" y="0"/>
                    <a:pt x="102" y="0"/>
                  </a:cubicBezTo>
                  <a:cubicBezTo>
                    <a:pt x="93" y="0"/>
                    <a:pt x="82" y="2"/>
                    <a:pt x="75" y="8"/>
                  </a:cubicBezTo>
                  <a:cubicBezTo>
                    <a:pt x="68" y="14"/>
                    <a:pt x="69" y="25"/>
                    <a:pt x="77" y="30"/>
                  </a:cubicBezTo>
                  <a:cubicBezTo>
                    <a:pt x="80" y="31"/>
                    <a:pt x="82" y="32"/>
                    <a:pt x="85" y="34"/>
                  </a:cubicBezTo>
                  <a:cubicBezTo>
                    <a:pt x="89" y="37"/>
                    <a:pt x="90" y="42"/>
                    <a:pt x="89" y="47"/>
                  </a:cubicBezTo>
                  <a:cubicBezTo>
                    <a:pt x="89" y="50"/>
                    <a:pt x="87" y="51"/>
                    <a:pt x="85" y="52"/>
                  </a:cubicBezTo>
                  <a:cubicBezTo>
                    <a:pt x="15" y="52"/>
                    <a:pt x="15" y="52"/>
                    <a:pt x="15" y="52"/>
                  </a:cubicBezTo>
                  <a:cubicBezTo>
                    <a:pt x="7" y="52"/>
                    <a:pt x="0" y="59"/>
                    <a:pt x="0" y="67"/>
                  </a:cubicBezTo>
                  <a:cubicBezTo>
                    <a:pt x="0" y="227"/>
                    <a:pt x="0" y="227"/>
                    <a:pt x="0" y="227"/>
                  </a:cubicBezTo>
                  <a:cubicBezTo>
                    <a:pt x="0" y="235"/>
                    <a:pt x="7" y="242"/>
                    <a:pt x="15" y="242"/>
                  </a:cubicBezTo>
                  <a:cubicBezTo>
                    <a:pt x="68" y="242"/>
                    <a:pt x="68" y="242"/>
                    <a:pt x="68" y="242"/>
                  </a:cubicBezTo>
                  <a:cubicBezTo>
                    <a:pt x="61" y="237"/>
                    <a:pt x="57" y="230"/>
                    <a:pt x="57" y="222"/>
                  </a:cubicBezTo>
                  <a:close/>
                </a:path>
              </a:pathLst>
            </a:custGeom>
            <a:solidFill>
              <a:srgbClr val="66666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8" name="Google Shape;1589;p47">
              <a:extLst>
                <a:ext uri="{FF2B5EF4-FFF2-40B4-BE49-F238E27FC236}">
                  <a16:creationId xmlns:a16="http://schemas.microsoft.com/office/drawing/2014/main" id="{CCA889A2-22BA-CF93-D952-DE6181DB2222}"/>
                </a:ext>
              </a:extLst>
            </p:cNvPr>
            <p:cNvSpPr/>
            <p:nvPr/>
          </p:nvSpPr>
          <p:spPr>
            <a:xfrm>
              <a:off x="1674084" y="3534654"/>
              <a:ext cx="179880" cy="21352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6"/>
                    <a:pt x="204" y="227"/>
                  </a:cubicBezTo>
                  <a:cubicBezTo>
                    <a:pt x="204" y="67"/>
                    <a:pt x="204" y="67"/>
                    <a:pt x="204" y="67"/>
                  </a:cubicBezTo>
                  <a:cubicBezTo>
                    <a:pt x="204" y="59"/>
                    <a:pt x="198" y="53"/>
                    <a:pt x="190" y="53"/>
                  </a:cubicBezTo>
                  <a:cubicBezTo>
                    <a:pt x="120" y="53"/>
                    <a:pt x="120" y="53"/>
                    <a:pt x="120" y="53"/>
                  </a:cubicBezTo>
                  <a:cubicBezTo>
                    <a:pt x="118" y="52"/>
                    <a:pt x="115" y="50"/>
                    <a:pt x="115" y="47"/>
                  </a:cubicBezTo>
                  <a:cubicBezTo>
                    <a:pt x="115" y="42"/>
                    <a:pt x="115" y="38"/>
                    <a:pt x="120" y="34"/>
                  </a:cubicBezTo>
                  <a:cubicBezTo>
                    <a:pt x="122" y="33"/>
                    <a:pt x="125" y="31"/>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1"/>
                    <a:pt x="82" y="33"/>
                    <a:pt x="85" y="34"/>
                  </a:cubicBezTo>
                  <a:cubicBezTo>
                    <a:pt x="89" y="38"/>
                    <a:pt x="90" y="42"/>
                    <a:pt x="89" y="47"/>
                  </a:cubicBezTo>
                  <a:cubicBezTo>
                    <a:pt x="89" y="50"/>
                    <a:pt x="87" y="52"/>
                    <a:pt x="85" y="53"/>
                  </a:cubicBezTo>
                  <a:cubicBezTo>
                    <a:pt x="15" y="53"/>
                    <a:pt x="15" y="53"/>
                    <a:pt x="15" y="53"/>
                  </a:cubicBezTo>
                  <a:cubicBezTo>
                    <a:pt x="7" y="53"/>
                    <a:pt x="0" y="59"/>
                    <a:pt x="0" y="67"/>
                  </a:cubicBezTo>
                  <a:cubicBezTo>
                    <a:pt x="0" y="227"/>
                    <a:pt x="0" y="227"/>
                    <a:pt x="0" y="227"/>
                  </a:cubicBezTo>
                  <a:cubicBezTo>
                    <a:pt x="0" y="236"/>
                    <a:pt x="7" y="242"/>
                    <a:pt x="15" y="242"/>
                  </a:cubicBezTo>
                  <a:cubicBezTo>
                    <a:pt x="68" y="242"/>
                    <a:pt x="68" y="242"/>
                    <a:pt x="68" y="242"/>
                  </a:cubicBezTo>
                  <a:cubicBezTo>
                    <a:pt x="61" y="237"/>
                    <a:pt x="57" y="230"/>
                    <a:pt x="57" y="222"/>
                  </a:cubicBezTo>
                  <a:close/>
                </a:path>
              </a:pathLst>
            </a:custGeom>
            <a:solidFill>
              <a:srgbClr val="B7B7B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9" name="Google Shape;1590;p47">
              <a:extLst>
                <a:ext uri="{FF2B5EF4-FFF2-40B4-BE49-F238E27FC236}">
                  <a16:creationId xmlns:a16="http://schemas.microsoft.com/office/drawing/2014/main" id="{A7F044EC-8169-38DD-BE9A-5BA4F9C374A3}"/>
                </a:ext>
              </a:extLst>
            </p:cNvPr>
            <p:cNvSpPr/>
            <p:nvPr/>
          </p:nvSpPr>
          <p:spPr>
            <a:xfrm>
              <a:off x="1861110" y="3214987"/>
              <a:ext cx="212190" cy="179696"/>
            </a:xfrm>
            <a:custGeom>
              <a:avLst/>
              <a:gdLst/>
              <a:ahLst/>
              <a:cxnLst/>
              <a:rect l="l" t="t" r="r" b="b"/>
              <a:pathLst>
                <a:path w="241" h="204" extrusionOk="0">
                  <a:moveTo>
                    <a:pt x="20" y="57"/>
                  </a:moveTo>
                  <a:cubicBezTo>
                    <a:pt x="27" y="57"/>
                    <a:pt x="35" y="61"/>
                    <a:pt x="40" y="67"/>
                  </a:cubicBezTo>
                  <a:cubicBezTo>
                    <a:pt x="47" y="76"/>
                    <a:pt x="51" y="88"/>
                    <a:pt x="51" y="102"/>
                  </a:cubicBezTo>
                  <a:cubicBezTo>
                    <a:pt x="51" y="116"/>
                    <a:pt x="47" y="128"/>
                    <a:pt x="40" y="137"/>
                  </a:cubicBezTo>
                  <a:cubicBezTo>
                    <a:pt x="35" y="143"/>
                    <a:pt x="27"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7" y="119"/>
                  </a:cubicBezTo>
                  <a:cubicBezTo>
                    <a:pt x="209" y="122"/>
                    <a:pt x="210" y="125"/>
                    <a:pt x="212" y="127"/>
                  </a:cubicBezTo>
                  <a:cubicBezTo>
                    <a:pt x="217" y="135"/>
                    <a:pt x="227" y="136"/>
                    <a:pt x="233" y="129"/>
                  </a:cubicBezTo>
                  <a:cubicBezTo>
                    <a:pt x="239" y="122"/>
                    <a:pt x="241" y="112"/>
                    <a:pt x="241" y="102"/>
                  </a:cubicBezTo>
                  <a:cubicBezTo>
                    <a:pt x="241" y="92"/>
                    <a:pt x="239" y="82"/>
                    <a:pt x="233" y="75"/>
                  </a:cubicBezTo>
                  <a:cubicBezTo>
                    <a:pt x="227" y="68"/>
                    <a:pt x="217" y="69"/>
                    <a:pt x="212" y="77"/>
                  </a:cubicBezTo>
                  <a:cubicBezTo>
                    <a:pt x="210" y="79"/>
                    <a:pt x="209" y="82"/>
                    <a:pt x="207"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CC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0" name="Google Shape;1591;p47">
              <a:extLst>
                <a:ext uri="{FF2B5EF4-FFF2-40B4-BE49-F238E27FC236}">
                  <a16:creationId xmlns:a16="http://schemas.microsoft.com/office/drawing/2014/main" id="{ADF76295-798B-EF9B-3913-166F686E438C}"/>
                </a:ext>
              </a:extLst>
            </p:cNvPr>
            <p:cNvSpPr/>
            <p:nvPr/>
          </p:nvSpPr>
          <p:spPr>
            <a:xfrm>
              <a:off x="2040679" y="3214987"/>
              <a:ext cx="213433" cy="179696"/>
            </a:xfrm>
            <a:custGeom>
              <a:avLst/>
              <a:gdLst/>
              <a:ahLst/>
              <a:cxnLst/>
              <a:rect l="l" t="t" r="r" b="b"/>
              <a:pathLst>
                <a:path w="242" h="204" extrusionOk="0">
                  <a:moveTo>
                    <a:pt x="20" y="57"/>
                  </a:move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8" y="119"/>
                  </a:cubicBezTo>
                  <a:cubicBezTo>
                    <a:pt x="209" y="122"/>
                    <a:pt x="211" y="125"/>
                    <a:pt x="212" y="127"/>
                  </a:cubicBezTo>
                  <a:cubicBezTo>
                    <a:pt x="217" y="135"/>
                    <a:pt x="227" y="136"/>
                    <a:pt x="233" y="129"/>
                  </a:cubicBezTo>
                  <a:cubicBezTo>
                    <a:pt x="239" y="122"/>
                    <a:pt x="242" y="112"/>
                    <a:pt x="241" y="102"/>
                  </a:cubicBezTo>
                  <a:cubicBezTo>
                    <a:pt x="242" y="92"/>
                    <a:pt x="239" y="82"/>
                    <a:pt x="233" y="75"/>
                  </a:cubicBezTo>
                  <a:cubicBezTo>
                    <a:pt x="227" y="68"/>
                    <a:pt x="217" y="69"/>
                    <a:pt x="212" y="77"/>
                  </a:cubicBezTo>
                  <a:cubicBezTo>
                    <a:pt x="211" y="79"/>
                    <a:pt x="209" y="82"/>
                    <a:pt x="208"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E6913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1" name="Google Shape;1592;p47">
              <a:extLst>
                <a:ext uri="{FF2B5EF4-FFF2-40B4-BE49-F238E27FC236}">
                  <a16:creationId xmlns:a16="http://schemas.microsoft.com/office/drawing/2014/main" id="{60E47492-3F35-E6A9-B956-35476D57CB93}"/>
                </a:ext>
              </a:extLst>
            </p:cNvPr>
            <p:cNvSpPr/>
            <p:nvPr/>
          </p:nvSpPr>
          <p:spPr>
            <a:xfrm>
              <a:off x="1674084" y="3714660"/>
              <a:ext cx="173666" cy="220353"/>
            </a:xfrm>
            <a:custGeom>
              <a:avLst/>
              <a:gdLst/>
              <a:ahLst/>
              <a:cxnLst/>
              <a:rect l="l" t="t" r="r" b="b"/>
              <a:pathLst>
                <a:path w="197" h="250" extrusionOk="0">
                  <a:moveTo>
                    <a:pt x="177" y="192"/>
                  </a:moveTo>
                  <a:cubicBezTo>
                    <a:pt x="169" y="192"/>
                    <a:pt x="162" y="189"/>
                    <a:pt x="157" y="183"/>
                  </a:cubicBezTo>
                  <a:cubicBezTo>
                    <a:pt x="150" y="174"/>
                    <a:pt x="146" y="161"/>
                    <a:pt x="146" y="147"/>
                  </a:cubicBezTo>
                  <a:cubicBezTo>
                    <a:pt x="146" y="134"/>
                    <a:pt x="150" y="121"/>
                    <a:pt x="157" y="112"/>
                  </a:cubicBezTo>
                  <a:cubicBezTo>
                    <a:pt x="162" y="106"/>
                    <a:pt x="169" y="103"/>
                    <a:pt x="177" y="103"/>
                  </a:cubicBezTo>
                  <a:cubicBezTo>
                    <a:pt x="185" y="103"/>
                    <a:pt x="192" y="106"/>
                    <a:pt x="197" y="113"/>
                  </a:cubicBezTo>
                  <a:cubicBezTo>
                    <a:pt x="197" y="67"/>
                    <a:pt x="197" y="67"/>
                    <a:pt x="197" y="67"/>
                  </a:cubicBezTo>
                  <a:cubicBezTo>
                    <a:pt x="197" y="59"/>
                    <a:pt x="191" y="53"/>
                    <a:pt x="182" y="53"/>
                  </a:cubicBezTo>
                  <a:cubicBezTo>
                    <a:pt x="120" y="53"/>
                    <a:pt x="120" y="53"/>
                    <a:pt x="120" y="53"/>
                  </a:cubicBezTo>
                  <a:cubicBezTo>
                    <a:pt x="118" y="52"/>
                    <a:pt x="115" y="50"/>
                    <a:pt x="115" y="47"/>
                  </a:cubicBezTo>
                  <a:cubicBezTo>
                    <a:pt x="115" y="42"/>
                    <a:pt x="115" y="38"/>
                    <a:pt x="120" y="35"/>
                  </a:cubicBezTo>
                  <a:cubicBezTo>
                    <a:pt x="122" y="33"/>
                    <a:pt x="125" y="32"/>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2"/>
                    <a:pt x="82" y="33"/>
                    <a:pt x="85" y="35"/>
                  </a:cubicBezTo>
                  <a:cubicBezTo>
                    <a:pt x="89" y="38"/>
                    <a:pt x="90" y="42"/>
                    <a:pt x="89" y="47"/>
                  </a:cubicBezTo>
                  <a:cubicBezTo>
                    <a:pt x="89" y="50"/>
                    <a:pt x="87" y="52"/>
                    <a:pt x="85" y="53"/>
                  </a:cubicBezTo>
                  <a:cubicBezTo>
                    <a:pt x="15" y="53"/>
                    <a:pt x="15" y="53"/>
                    <a:pt x="15" y="53"/>
                  </a:cubicBezTo>
                  <a:cubicBezTo>
                    <a:pt x="7" y="53"/>
                    <a:pt x="0" y="59"/>
                    <a:pt x="0" y="67"/>
                  </a:cubicBezTo>
                  <a:cubicBezTo>
                    <a:pt x="0" y="235"/>
                    <a:pt x="0" y="235"/>
                    <a:pt x="0" y="235"/>
                  </a:cubicBezTo>
                  <a:cubicBezTo>
                    <a:pt x="0" y="243"/>
                    <a:pt x="7" y="250"/>
                    <a:pt x="15" y="250"/>
                  </a:cubicBezTo>
                  <a:cubicBezTo>
                    <a:pt x="182" y="250"/>
                    <a:pt x="182" y="250"/>
                    <a:pt x="182" y="250"/>
                  </a:cubicBezTo>
                  <a:cubicBezTo>
                    <a:pt x="191" y="250"/>
                    <a:pt x="197" y="243"/>
                    <a:pt x="197" y="235"/>
                  </a:cubicBezTo>
                  <a:cubicBezTo>
                    <a:pt x="197" y="182"/>
                    <a:pt x="197" y="182"/>
                    <a:pt x="197" y="182"/>
                  </a:cubicBezTo>
                  <a:cubicBezTo>
                    <a:pt x="192" y="189"/>
                    <a:pt x="185" y="192"/>
                    <a:pt x="177" y="192"/>
                  </a:cubicBezTo>
                  <a:close/>
                </a:path>
              </a:pathLst>
            </a:custGeom>
            <a:solidFill>
              <a:srgbClr val="A64D7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2" name="Google Shape;1593;p47">
              <a:extLst>
                <a:ext uri="{FF2B5EF4-FFF2-40B4-BE49-F238E27FC236}">
                  <a16:creationId xmlns:a16="http://schemas.microsoft.com/office/drawing/2014/main" id="{BC13D2CC-1EB6-BB2A-8852-8EFA87E159BE}"/>
                </a:ext>
              </a:extLst>
            </p:cNvPr>
            <p:cNvSpPr/>
            <p:nvPr/>
          </p:nvSpPr>
          <p:spPr>
            <a:xfrm>
              <a:off x="1674084" y="3214987"/>
              <a:ext cx="219646" cy="173489"/>
            </a:xfrm>
            <a:custGeom>
              <a:avLst/>
              <a:gdLst/>
              <a:ahLst/>
              <a:cxnLst/>
              <a:rect l="l" t="t" r="r" b="b"/>
              <a:pathLst>
                <a:path w="249" h="197" extrusionOk="0">
                  <a:moveTo>
                    <a:pt x="57" y="177"/>
                  </a:moveTo>
                  <a:cubicBezTo>
                    <a:pt x="57" y="169"/>
                    <a:pt x="61" y="162"/>
                    <a:pt x="67" y="157"/>
                  </a:cubicBezTo>
                  <a:cubicBezTo>
                    <a:pt x="76" y="149"/>
                    <a:pt x="88" y="146"/>
                    <a:pt x="102" y="146"/>
                  </a:cubicBezTo>
                  <a:cubicBezTo>
                    <a:pt x="116" y="146"/>
                    <a:pt x="129" y="149"/>
                    <a:pt x="137" y="157"/>
                  </a:cubicBezTo>
                  <a:cubicBezTo>
                    <a:pt x="144" y="162"/>
                    <a:pt x="147" y="169"/>
                    <a:pt x="147" y="177"/>
                  </a:cubicBezTo>
                  <a:cubicBezTo>
                    <a:pt x="147" y="185"/>
                    <a:pt x="143" y="192"/>
                    <a:pt x="137" y="197"/>
                  </a:cubicBezTo>
                  <a:cubicBezTo>
                    <a:pt x="182" y="197"/>
                    <a:pt x="182" y="197"/>
                    <a:pt x="182" y="197"/>
                  </a:cubicBezTo>
                  <a:cubicBezTo>
                    <a:pt x="191" y="197"/>
                    <a:pt x="197" y="190"/>
                    <a:pt x="197" y="182"/>
                  </a:cubicBezTo>
                  <a:cubicBezTo>
                    <a:pt x="197" y="119"/>
                    <a:pt x="197" y="119"/>
                    <a:pt x="197" y="119"/>
                  </a:cubicBezTo>
                  <a:cubicBezTo>
                    <a:pt x="198" y="117"/>
                    <a:pt x="200" y="115"/>
                    <a:pt x="202" y="115"/>
                  </a:cubicBezTo>
                  <a:cubicBezTo>
                    <a:pt x="207" y="115"/>
                    <a:pt x="212" y="115"/>
                    <a:pt x="215" y="119"/>
                  </a:cubicBezTo>
                  <a:cubicBezTo>
                    <a:pt x="217" y="122"/>
                    <a:pt x="218" y="125"/>
                    <a:pt x="220" y="127"/>
                  </a:cubicBezTo>
                  <a:cubicBezTo>
                    <a:pt x="225" y="135"/>
                    <a:pt x="235" y="136"/>
                    <a:pt x="241" y="129"/>
                  </a:cubicBezTo>
                  <a:cubicBezTo>
                    <a:pt x="247" y="122"/>
                    <a:pt x="249" y="112"/>
                    <a:pt x="249" y="102"/>
                  </a:cubicBezTo>
                  <a:cubicBezTo>
                    <a:pt x="249" y="92"/>
                    <a:pt x="247" y="82"/>
                    <a:pt x="241" y="75"/>
                  </a:cubicBezTo>
                  <a:cubicBezTo>
                    <a:pt x="235" y="68"/>
                    <a:pt x="225" y="69"/>
                    <a:pt x="220" y="77"/>
                  </a:cubicBezTo>
                  <a:cubicBezTo>
                    <a:pt x="218" y="79"/>
                    <a:pt x="217" y="82"/>
                    <a:pt x="215" y="85"/>
                  </a:cubicBezTo>
                  <a:cubicBezTo>
                    <a:pt x="212" y="89"/>
                    <a:pt x="207" y="89"/>
                    <a:pt x="202" y="89"/>
                  </a:cubicBezTo>
                  <a:cubicBezTo>
                    <a:pt x="200" y="89"/>
                    <a:pt x="198" y="87"/>
                    <a:pt x="197" y="85"/>
                  </a:cubicBezTo>
                  <a:cubicBezTo>
                    <a:pt x="197" y="15"/>
                    <a:pt x="197" y="15"/>
                    <a:pt x="197" y="15"/>
                  </a:cubicBezTo>
                  <a:cubicBezTo>
                    <a:pt x="197" y="6"/>
                    <a:pt x="191" y="0"/>
                    <a:pt x="182" y="0"/>
                  </a:cubicBezTo>
                  <a:cubicBezTo>
                    <a:pt x="15" y="0"/>
                    <a:pt x="15" y="0"/>
                    <a:pt x="15" y="0"/>
                  </a:cubicBezTo>
                  <a:cubicBezTo>
                    <a:pt x="7" y="0"/>
                    <a:pt x="0" y="6"/>
                    <a:pt x="0" y="15"/>
                  </a:cubicBezTo>
                  <a:cubicBezTo>
                    <a:pt x="0" y="182"/>
                    <a:pt x="0" y="182"/>
                    <a:pt x="0" y="182"/>
                  </a:cubicBezTo>
                  <a:cubicBezTo>
                    <a:pt x="0" y="190"/>
                    <a:pt x="7" y="197"/>
                    <a:pt x="15" y="197"/>
                  </a:cubicBezTo>
                  <a:cubicBezTo>
                    <a:pt x="68" y="197"/>
                    <a:pt x="68" y="197"/>
                    <a:pt x="68" y="197"/>
                  </a:cubicBezTo>
                  <a:cubicBezTo>
                    <a:pt x="61" y="192"/>
                    <a:pt x="57" y="185"/>
                    <a:pt x="57" y="177"/>
                  </a:cubicBezTo>
                  <a:close/>
                </a:path>
              </a:pathLst>
            </a:custGeom>
            <a:solidFill>
              <a:srgbClr val="A61C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3" name="Google Shape;1594;p47">
              <a:extLst>
                <a:ext uri="{FF2B5EF4-FFF2-40B4-BE49-F238E27FC236}">
                  <a16:creationId xmlns:a16="http://schemas.microsoft.com/office/drawing/2014/main" id="{9EB85509-1EA8-6FB1-91C8-B87BE558B44A}"/>
                </a:ext>
              </a:extLst>
            </p:cNvPr>
            <p:cNvSpPr/>
            <p:nvPr/>
          </p:nvSpPr>
          <p:spPr>
            <a:xfrm>
              <a:off x="1995010" y="3754076"/>
              <a:ext cx="212501" cy="180938"/>
            </a:xfrm>
            <a:custGeom>
              <a:avLst/>
              <a:gdLst/>
              <a:ahLst/>
              <a:cxnLst/>
              <a:rect l="l" t="t" r="r" b="b"/>
              <a:pathLst>
                <a:path w="241" h="205" extrusionOk="0">
                  <a:moveTo>
                    <a:pt x="221" y="147"/>
                  </a:moveTo>
                  <a:cubicBezTo>
                    <a:pt x="214" y="147"/>
                    <a:pt x="206" y="144"/>
                    <a:pt x="201" y="138"/>
                  </a:cubicBezTo>
                  <a:cubicBezTo>
                    <a:pt x="194" y="129"/>
                    <a:pt x="190" y="116"/>
                    <a:pt x="190" y="102"/>
                  </a:cubicBezTo>
                  <a:cubicBezTo>
                    <a:pt x="190" y="89"/>
                    <a:pt x="194" y="76"/>
                    <a:pt x="201" y="67"/>
                  </a:cubicBezTo>
                  <a:cubicBezTo>
                    <a:pt x="206" y="61"/>
                    <a:pt x="214" y="58"/>
                    <a:pt x="221" y="58"/>
                  </a:cubicBezTo>
                  <a:cubicBezTo>
                    <a:pt x="229" y="58"/>
                    <a:pt x="236" y="61"/>
                    <a:pt x="241" y="68"/>
                  </a:cubicBezTo>
                  <a:cubicBezTo>
                    <a:pt x="241" y="15"/>
                    <a:pt x="241" y="15"/>
                    <a:pt x="241" y="15"/>
                  </a:cubicBezTo>
                  <a:cubicBezTo>
                    <a:pt x="241" y="7"/>
                    <a:pt x="235" y="0"/>
                    <a:pt x="227" y="0"/>
                  </a:cubicBezTo>
                  <a:cubicBezTo>
                    <a:pt x="67" y="0"/>
                    <a:pt x="67" y="0"/>
                    <a:pt x="67" y="0"/>
                  </a:cubicBezTo>
                  <a:cubicBezTo>
                    <a:pt x="58" y="0"/>
                    <a:pt x="52" y="7"/>
                    <a:pt x="52" y="15"/>
                  </a:cubicBezTo>
                  <a:cubicBezTo>
                    <a:pt x="52" y="85"/>
                    <a:pt x="52" y="85"/>
                    <a:pt x="52" y="85"/>
                  </a:cubicBezTo>
                  <a:cubicBezTo>
                    <a:pt x="51" y="87"/>
                    <a:pt x="49" y="89"/>
                    <a:pt x="46" y="90"/>
                  </a:cubicBezTo>
                  <a:cubicBezTo>
                    <a:pt x="41" y="90"/>
                    <a:pt x="37" y="90"/>
                    <a:pt x="34" y="85"/>
                  </a:cubicBezTo>
                  <a:cubicBezTo>
                    <a:pt x="32" y="83"/>
                    <a:pt x="31" y="80"/>
                    <a:pt x="29" y="77"/>
                  </a:cubicBezTo>
                  <a:cubicBezTo>
                    <a:pt x="24" y="69"/>
                    <a:pt x="14" y="68"/>
                    <a:pt x="8" y="75"/>
                  </a:cubicBezTo>
                  <a:cubicBezTo>
                    <a:pt x="2" y="83"/>
                    <a:pt x="0" y="93"/>
                    <a:pt x="0" y="102"/>
                  </a:cubicBezTo>
                  <a:cubicBezTo>
                    <a:pt x="0" y="112"/>
                    <a:pt x="2" y="122"/>
                    <a:pt x="8" y="129"/>
                  </a:cubicBezTo>
                  <a:cubicBezTo>
                    <a:pt x="14" y="137"/>
                    <a:pt x="24" y="136"/>
                    <a:pt x="29" y="128"/>
                  </a:cubicBezTo>
                  <a:cubicBezTo>
                    <a:pt x="31" y="125"/>
                    <a:pt x="32" y="122"/>
                    <a:pt x="34" y="120"/>
                  </a:cubicBezTo>
                  <a:cubicBezTo>
                    <a:pt x="37" y="115"/>
                    <a:pt x="41" y="115"/>
                    <a:pt x="46" y="115"/>
                  </a:cubicBezTo>
                  <a:cubicBezTo>
                    <a:pt x="49" y="115"/>
                    <a:pt x="51" y="118"/>
                    <a:pt x="52" y="120"/>
                  </a:cubicBezTo>
                  <a:cubicBezTo>
                    <a:pt x="52" y="190"/>
                    <a:pt x="52" y="190"/>
                    <a:pt x="52" y="190"/>
                  </a:cubicBezTo>
                  <a:cubicBezTo>
                    <a:pt x="52" y="198"/>
                    <a:pt x="58" y="205"/>
                    <a:pt x="67" y="205"/>
                  </a:cubicBezTo>
                  <a:cubicBezTo>
                    <a:pt x="227" y="205"/>
                    <a:pt x="227" y="205"/>
                    <a:pt x="227" y="205"/>
                  </a:cubicBezTo>
                  <a:cubicBezTo>
                    <a:pt x="235" y="205"/>
                    <a:pt x="241" y="198"/>
                    <a:pt x="241" y="190"/>
                  </a:cubicBezTo>
                  <a:cubicBezTo>
                    <a:pt x="241" y="137"/>
                    <a:pt x="241" y="137"/>
                    <a:pt x="241" y="137"/>
                  </a:cubicBezTo>
                  <a:cubicBezTo>
                    <a:pt x="236" y="144"/>
                    <a:pt x="229" y="147"/>
                    <a:pt x="221" y="147"/>
                  </a:cubicBezTo>
                  <a:close/>
                </a:path>
              </a:pathLst>
            </a:custGeom>
            <a:solidFill>
              <a:srgbClr val="3D85C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4" name="Google Shape;1595;p47">
              <a:extLst>
                <a:ext uri="{FF2B5EF4-FFF2-40B4-BE49-F238E27FC236}">
                  <a16:creationId xmlns:a16="http://schemas.microsoft.com/office/drawing/2014/main" id="{A37BBDA4-AEB0-32B6-B58D-7CFDD4EF7903}"/>
                </a:ext>
              </a:extLst>
            </p:cNvPr>
            <p:cNvSpPr/>
            <p:nvPr/>
          </p:nvSpPr>
          <p:spPr>
            <a:xfrm>
              <a:off x="2220560" y="3214987"/>
              <a:ext cx="173666" cy="219422"/>
            </a:xfrm>
            <a:custGeom>
              <a:avLst/>
              <a:gdLst/>
              <a:ahLst/>
              <a:cxnLst/>
              <a:rect l="l" t="t" r="r" b="b"/>
              <a:pathLst>
                <a:path w="197" h="249" extrusionOk="0">
                  <a:moveTo>
                    <a:pt x="0" y="15"/>
                  </a:moveTo>
                  <a:cubicBezTo>
                    <a:pt x="0" y="67"/>
                    <a:pt x="0" y="67"/>
                    <a:pt x="0" y="67"/>
                  </a:cubicBezTo>
                  <a:cubicBezTo>
                    <a:pt x="5" y="61"/>
                    <a:pt x="12" y="57"/>
                    <a:pt x="20" y="57"/>
                  </a:cubicBez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2"/>
                    <a:pt x="0" y="182"/>
                    <a:pt x="0" y="182"/>
                  </a:cubicBezTo>
                  <a:cubicBezTo>
                    <a:pt x="0" y="190"/>
                    <a:pt x="6" y="197"/>
                    <a:pt x="15" y="197"/>
                  </a:cubicBezTo>
                  <a:cubicBezTo>
                    <a:pt x="77" y="197"/>
                    <a:pt x="77" y="197"/>
                    <a:pt x="77" y="197"/>
                  </a:cubicBezTo>
                  <a:cubicBezTo>
                    <a:pt x="80" y="198"/>
                    <a:pt x="82" y="199"/>
                    <a:pt x="82" y="202"/>
                  </a:cubicBezTo>
                  <a:cubicBezTo>
                    <a:pt x="82" y="207"/>
                    <a:pt x="82" y="212"/>
                    <a:pt x="77" y="215"/>
                  </a:cubicBezTo>
                  <a:cubicBezTo>
                    <a:pt x="75" y="217"/>
                    <a:pt x="72" y="218"/>
                    <a:pt x="69" y="219"/>
                  </a:cubicBezTo>
                  <a:cubicBezTo>
                    <a:pt x="61" y="224"/>
                    <a:pt x="60" y="235"/>
                    <a:pt x="68" y="241"/>
                  </a:cubicBezTo>
                  <a:cubicBezTo>
                    <a:pt x="75" y="247"/>
                    <a:pt x="85" y="249"/>
                    <a:pt x="95" y="249"/>
                  </a:cubicBezTo>
                  <a:cubicBezTo>
                    <a:pt x="104" y="249"/>
                    <a:pt x="115" y="247"/>
                    <a:pt x="122" y="241"/>
                  </a:cubicBezTo>
                  <a:cubicBezTo>
                    <a:pt x="129" y="235"/>
                    <a:pt x="128" y="224"/>
                    <a:pt x="120" y="219"/>
                  </a:cubicBezTo>
                  <a:cubicBezTo>
                    <a:pt x="118" y="218"/>
                    <a:pt x="115" y="217"/>
                    <a:pt x="112" y="215"/>
                  </a:cubicBezTo>
                  <a:cubicBezTo>
                    <a:pt x="108" y="212"/>
                    <a:pt x="107" y="207"/>
                    <a:pt x="108" y="202"/>
                  </a:cubicBezTo>
                  <a:cubicBezTo>
                    <a:pt x="108" y="199"/>
                    <a:pt x="110" y="198"/>
                    <a:pt x="112" y="197"/>
                  </a:cubicBezTo>
                  <a:cubicBezTo>
                    <a:pt x="182" y="197"/>
                    <a:pt x="182" y="197"/>
                    <a:pt x="182" y="197"/>
                  </a:cubicBezTo>
                  <a:cubicBezTo>
                    <a:pt x="190" y="197"/>
                    <a:pt x="197" y="190"/>
                    <a:pt x="197" y="182"/>
                  </a:cubicBezTo>
                  <a:cubicBezTo>
                    <a:pt x="197" y="15"/>
                    <a:pt x="197" y="15"/>
                    <a:pt x="197" y="15"/>
                  </a:cubicBezTo>
                  <a:cubicBezTo>
                    <a:pt x="197" y="6"/>
                    <a:pt x="190" y="0"/>
                    <a:pt x="182" y="0"/>
                  </a:cubicBezTo>
                  <a:cubicBezTo>
                    <a:pt x="15" y="0"/>
                    <a:pt x="15" y="0"/>
                    <a:pt x="15" y="0"/>
                  </a:cubicBezTo>
                  <a:cubicBezTo>
                    <a:pt x="6" y="0"/>
                    <a:pt x="0" y="6"/>
                    <a:pt x="0" y="15"/>
                  </a:cubicBez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5" name="Google Shape;1596;p47">
              <a:extLst>
                <a:ext uri="{FF2B5EF4-FFF2-40B4-BE49-F238E27FC236}">
                  <a16:creationId xmlns:a16="http://schemas.microsoft.com/office/drawing/2014/main" id="{F2F27D55-8827-6CAC-14E4-1999638792F6}"/>
                </a:ext>
              </a:extLst>
            </p:cNvPr>
            <p:cNvSpPr/>
            <p:nvPr/>
          </p:nvSpPr>
          <p:spPr>
            <a:xfrm>
              <a:off x="2214346" y="3400890"/>
              <a:ext cx="179880" cy="213215"/>
            </a:xfrm>
            <a:custGeom>
              <a:avLst/>
              <a:gdLst/>
              <a:ahLst/>
              <a:cxnLst/>
              <a:rect l="l" t="t" r="r" b="b"/>
              <a:pathLst>
                <a:path w="204" h="242" extrusionOk="0">
                  <a:moveTo>
                    <a:pt x="147" y="20"/>
                  </a:moveTo>
                  <a:cubicBezTo>
                    <a:pt x="147" y="28"/>
                    <a:pt x="143" y="35"/>
                    <a:pt x="137" y="40"/>
                  </a:cubicBezTo>
                  <a:cubicBezTo>
                    <a:pt x="128" y="48"/>
                    <a:pt x="116" y="51"/>
                    <a:pt x="102" y="51"/>
                  </a:cubicBezTo>
                  <a:cubicBezTo>
                    <a:pt x="88" y="51"/>
                    <a:pt x="75" y="48"/>
                    <a:pt x="67" y="40"/>
                  </a:cubicBezTo>
                  <a:cubicBezTo>
                    <a:pt x="60" y="35"/>
                    <a:pt x="57" y="28"/>
                    <a:pt x="57" y="20"/>
                  </a:cubicBezTo>
                  <a:cubicBezTo>
                    <a:pt x="57" y="12"/>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2"/>
                    <a:pt x="89" y="195"/>
                  </a:cubicBezTo>
                  <a:cubicBezTo>
                    <a:pt x="89" y="200"/>
                    <a:pt x="89" y="205"/>
                    <a:pt x="84" y="208"/>
                  </a:cubicBezTo>
                  <a:cubicBezTo>
                    <a:pt x="82" y="210"/>
                    <a:pt x="79" y="211"/>
                    <a:pt x="76" y="212"/>
                  </a:cubicBezTo>
                  <a:cubicBezTo>
                    <a:pt x="68" y="217"/>
                    <a:pt x="67" y="228"/>
                    <a:pt x="75" y="234"/>
                  </a:cubicBezTo>
                  <a:cubicBezTo>
                    <a:pt x="82" y="240"/>
                    <a:pt x="92" y="242"/>
                    <a:pt x="102" y="242"/>
                  </a:cubicBezTo>
                  <a:cubicBezTo>
                    <a:pt x="111" y="242"/>
                    <a:pt x="122" y="240"/>
                    <a:pt x="129" y="234"/>
                  </a:cubicBezTo>
                  <a:cubicBezTo>
                    <a:pt x="136" y="228"/>
                    <a:pt x="135" y="217"/>
                    <a:pt x="127" y="212"/>
                  </a:cubicBezTo>
                  <a:cubicBezTo>
                    <a:pt x="125" y="211"/>
                    <a:pt x="122" y="210"/>
                    <a:pt x="119" y="208"/>
                  </a:cubicBezTo>
                  <a:cubicBezTo>
                    <a:pt x="115" y="205"/>
                    <a:pt x="114" y="200"/>
                    <a:pt x="115" y="195"/>
                  </a:cubicBezTo>
                  <a:cubicBezTo>
                    <a:pt x="115" y="192"/>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2"/>
                    <a:pt x="147" y="20"/>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6" name="Google Shape;1597;p47">
              <a:extLst>
                <a:ext uri="{FF2B5EF4-FFF2-40B4-BE49-F238E27FC236}">
                  <a16:creationId xmlns:a16="http://schemas.microsoft.com/office/drawing/2014/main" id="{9B707A78-769C-673F-DD03-E61DC9FCF704}"/>
                </a:ext>
              </a:extLst>
            </p:cNvPr>
            <p:cNvSpPr/>
            <p:nvPr/>
          </p:nvSpPr>
          <p:spPr>
            <a:xfrm>
              <a:off x="1814198" y="3754076"/>
              <a:ext cx="213433" cy="180938"/>
            </a:xfrm>
            <a:custGeom>
              <a:avLst/>
              <a:gdLst/>
              <a:ahLst/>
              <a:cxnLst/>
              <a:rect l="l" t="t" r="r" b="b"/>
              <a:pathLst>
                <a:path w="242" h="205" extrusionOk="0">
                  <a:moveTo>
                    <a:pt x="222" y="147"/>
                  </a:moveTo>
                  <a:cubicBezTo>
                    <a:pt x="214" y="147"/>
                    <a:pt x="207" y="144"/>
                    <a:pt x="202" y="138"/>
                  </a:cubicBezTo>
                  <a:cubicBezTo>
                    <a:pt x="195" y="129"/>
                    <a:pt x="191" y="116"/>
                    <a:pt x="191" y="102"/>
                  </a:cubicBezTo>
                  <a:cubicBezTo>
                    <a:pt x="191" y="89"/>
                    <a:pt x="195" y="76"/>
                    <a:pt x="202" y="67"/>
                  </a:cubicBezTo>
                  <a:cubicBezTo>
                    <a:pt x="207" y="61"/>
                    <a:pt x="214" y="58"/>
                    <a:pt x="222" y="58"/>
                  </a:cubicBezTo>
                  <a:cubicBezTo>
                    <a:pt x="230" y="58"/>
                    <a:pt x="237" y="61"/>
                    <a:pt x="242" y="68"/>
                  </a:cubicBezTo>
                  <a:cubicBezTo>
                    <a:pt x="242" y="15"/>
                    <a:pt x="242" y="15"/>
                    <a:pt x="242" y="15"/>
                  </a:cubicBezTo>
                  <a:cubicBezTo>
                    <a:pt x="242" y="7"/>
                    <a:pt x="236" y="0"/>
                    <a:pt x="228" y="0"/>
                  </a:cubicBezTo>
                  <a:cubicBezTo>
                    <a:pt x="67" y="0"/>
                    <a:pt x="67" y="0"/>
                    <a:pt x="67" y="0"/>
                  </a:cubicBezTo>
                  <a:cubicBezTo>
                    <a:pt x="59" y="0"/>
                    <a:pt x="53" y="7"/>
                    <a:pt x="53" y="15"/>
                  </a:cubicBezTo>
                  <a:cubicBezTo>
                    <a:pt x="53" y="85"/>
                    <a:pt x="53" y="85"/>
                    <a:pt x="53" y="85"/>
                  </a:cubicBezTo>
                  <a:cubicBezTo>
                    <a:pt x="52" y="87"/>
                    <a:pt x="50" y="89"/>
                    <a:pt x="47" y="90"/>
                  </a:cubicBezTo>
                  <a:cubicBezTo>
                    <a:pt x="42" y="90"/>
                    <a:pt x="38" y="90"/>
                    <a:pt x="34" y="85"/>
                  </a:cubicBezTo>
                  <a:cubicBezTo>
                    <a:pt x="33" y="83"/>
                    <a:pt x="32" y="80"/>
                    <a:pt x="30" y="77"/>
                  </a:cubicBezTo>
                  <a:cubicBezTo>
                    <a:pt x="25" y="69"/>
                    <a:pt x="15" y="68"/>
                    <a:pt x="9" y="75"/>
                  </a:cubicBezTo>
                  <a:cubicBezTo>
                    <a:pt x="3" y="83"/>
                    <a:pt x="0" y="93"/>
                    <a:pt x="1" y="102"/>
                  </a:cubicBezTo>
                  <a:cubicBezTo>
                    <a:pt x="0" y="112"/>
                    <a:pt x="3" y="122"/>
                    <a:pt x="9" y="129"/>
                  </a:cubicBezTo>
                  <a:cubicBezTo>
                    <a:pt x="15" y="137"/>
                    <a:pt x="25" y="136"/>
                    <a:pt x="30" y="128"/>
                  </a:cubicBezTo>
                  <a:cubicBezTo>
                    <a:pt x="32" y="125"/>
                    <a:pt x="33" y="122"/>
                    <a:pt x="34" y="120"/>
                  </a:cubicBezTo>
                  <a:cubicBezTo>
                    <a:pt x="38" y="115"/>
                    <a:pt x="42" y="115"/>
                    <a:pt x="47" y="115"/>
                  </a:cubicBezTo>
                  <a:cubicBezTo>
                    <a:pt x="50" y="115"/>
                    <a:pt x="52" y="118"/>
                    <a:pt x="53" y="120"/>
                  </a:cubicBezTo>
                  <a:cubicBezTo>
                    <a:pt x="53" y="190"/>
                    <a:pt x="53" y="190"/>
                    <a:pt x="53" y="190"/>
                  </a:cubicBezTo>
                  <a:cubicBezTo>
                    <a:pt x="53" y="198"/>
                    <a:pt x="59" y="205"/>
                    <a:pt x="67" y="205"/>
                  </a:cubicBezTo>
                  <a:cubicBezTo>
                    <a:pt x="228" y="205"/>
                    <a:pt x="228" y="205"/>
                    <a:pt x="228" y="205"/>
                  </a:cubicBezTo>
                  <a:cubicBezTo>
                    <a:pt x="236" y="205"/>
                    <a:pt x="242" y="198"/>
                    <a:pt x="242" y="190"/>
                  </a:cubicBezTo>
                  <a:cubicBezTo>
                    <a:pt x="242" y="137"/>
                    <a:pt x="242" y="137"/>
                    <a:pt x="242" y="137"/>
                  </a:cubicBezTo>
                  <a:cubicBezTo>
                    <a:pt x="237" y="144"/>
                    <a:pt x="230" y="147"/>
                    <a:pt x="222" y="147"/>
                  </a:cubicBez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7" name="Google Shape;1598;p47">
              <a:extLst>
                <a:ext uri="{FF2B5EF4-FFF2-40B4-BE49-F238E27FC236}">
                  <a16:creationId xmlns:a16="http://schemas.microsoft.com/office/drawing/2014/main" id="{0D09F4A3-DE67-318A-5BE4-578E44BC1FD2}"/>
                </a:ext>
              </a:extLst>
            </p:cNvPr>
            <p:cNvSpPr/>
            <p:nvPr/>
          </p:nvSpPr>
          <p:spPr>
            <a:xfrm>
              <a:off x="2214346" y="3580587"/>
              <a:ext cx="179880" cy="213215"/>
            </a:xfrm>
            <a:custGeom>
              <a:avLst/>
              <a:gdLst/>
              <a:ahLst/>
              <a:cxnLst/>
              <a:rect l="l" t="t" r="r" b="b"/>
              <a:pathLst>
                <a:path w="204" h="242" extrusionOk="0">
                  <a:moveTo>
                    <a:pt x="147" y="20"/>
                  </a:moveTo>
                  <a:cubicBezTo>
                    <a:pt x="147" y="28"/>
                    <a:pt x="143" y="35"/>
                    <a:pt x="137" y="40"/>
                  </a:cubicBezTo>
                  <a:cubicBezTo>
                    <a:pt x="128" y="48"/>
                    <a:pt x="116" y="52"/>
                    <a:pt x="102" y="51"/>
                  </a:cubicBezTo>
                  <a:cubicBezTo>
                    <a:pt x="88" y="52"/>
                    <a:pt x="75" y="48"/>
                    <a:pt x="67" y="40"/>
                  </a:cubicBezTo>
                  <a:cubicBezTo>
                    <a:pt x="60" y="35"/>
                    <a:pt x="57" y="28"/>
                    <a:pt x="57" y="20"/>
                  </a:cubicBezTo>
                  <a:cubicBezTo>
                    <a:pt x="57" y="13"/>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3"/>
                    <a:pt x="89" y="195"/>
                  </a:cubicBezTo>
                  <a:cubicBezTo>
                    <a:pt x="89" y="200"/>
                    <a:pt x="89" y="205"/>
                    <a:pt x="84" y="208"/>
                  </a:cubicBezTo>
                  <a:cubicBezTo>
                    <a:pt x="82" y="210"/>
                    <a:pt x="79" y="211"/>
                    <a:pt x="76" y="213"/>
                  </a:cubicBezTo>
                  <a:cubicBezTo>
                    <a:pt x="68" y="218"/>
                    <a:pt x="67" y="228"/>
                    <a:pt x="75" y="234"/>
                  </a:cubicBezTo>
                  <a:cubicBezTo>
                    <a:pt x="82" y="240"/>
                    <a:pt x="92" y="242"/>
                    <a:pt x="102" y="242"/>
                  </a:cubicBezTo>
                  <a:cubicBezTo>
                    <a:pt x="111" y="242"/>
                    <a:pt x="122" y="240"/>
                    <a:pt x="129" y="234"/>
                  </a:cubicBezTo>
                  <a:cubicBezTo>
                    <a:pt x="136" y="228"/>
                    <a:pt x="135" y="218"/>
                    <a:pt x="127" y="213"/>
                  </a:cubicBezTo>
                  <a:cubicBezTo>
                    <a:pt x="125" y="211"/>
                    <a:pt x="122" y="210"/>
                    <a:pt x="119" y="208"/>
                  </a:cubicBezTo>
                  <a:cubicBezTo>
                    <a:pt x="115" y="205"/>
                    <a:pt x="114" y="200"/>
                    <a:pt x="115" y="195"/>
                  </a:cubicBezTo>
                  <a:cubicBezTo>
                    <a:pt x="115" y="193"/>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3"/>
                    <a:pt x="147" y="20"/>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28" name="Google Shape;1599;p47">
              <a:extLst>
                <a:ext uri="{FF2B5EF4-FFF2-40B4-BE49-F238E27FC236}">
                  <a16:creationId xmlns:a16="http://schemas.microsoft.com/office/drawing/2014/main" id="{F542587B-6D1B-2A86-20AB-4950504345E8}"/>
                </a:ext>
              </a:extLst>
            </p:cNvPr>
            <p:cNvSpPr/>
            <p:nvPr/>
          </p:nvSpPr>
          <p:spPr>
            <a:xfrm>
              <a:off x="2174890" y="3760283"/>
              <a:ext cx="219335" cy="174731"/>
            </a:xfrm>
            <a:custGeom>
              <a:avLst/>
              <a:gdLst/>
              <a:ahLst/>
              <a:cxnLst/>
              <a:rect l="l" t="t" r="r" b="b"/>
              <a:pathLst>
                <a:path w="249" h="198" extrusionOk="0">
                  <a:moveTo>
                    <a:pt x="192" y="21"/>
                  </a:moveTo>
                  <a:cubicBezTo>
                    <a:pt x="192" y="28"/>
                    <a:pt x="188" y="35"/>
                    <a:pt x="182" y="41"/>
                  </a:cubicBezTo>
                  <a:cubicBezTo>
                    <a:pt x="173" y="48"/>
                    <a:pt x="161" y="52"/>
                    <a:pt x="147" y="52"/>
                  </a:cubicBezTo>
                  <a:cubicBezTo>
                    <a:pt x="133" y="52"/>
                    <a:pt x="120" y="48"/>
                    <a:pt x="112" y="41"/>
                  </a:cubicBezTo>
                  <a:cubicBezTo>
                    <a:pt x="105" y="35"/>
                    <a:pt x="102" y="28"/>
                    <a:pt x="102" y="21"/>
                  </a:cubicBezTo>
                  <a:cubicBezTo>
                    <a:pt x="102" y="13"/>
                    <a:pt x="106" y="5"/>
                    <a:pt x="112" y="0"/>
                  </a:cubicBezTo>
                  <a:cubicBezTo>
                    <a:pt x="67" y="0"/>
                    <a:pt x="67" y="0"/>
                    <a:pt x="67" y="0"/>
                  </a:cubicBezTo>
                  <a:cubicBezTo>
                    <a:pt x="59" y="0"/>
                    <a:pt x="52" y="7"/>
                    <a:pt x="52" y="15"/>
                  </a:cubicBezTo>
                  <a:cubicBezTo>
                    <a:pt x="52" y="78"/>
                    <a:pt x="52" y="78"/>
                    <a:pt x="52" y="78"/>
                  </a:cubicBezTo>
                  <a:cubicBezTo>
                    <a:pt x="51" y="80"/>
                    <a:pt x="49" y="82"/>
                    <a:pt x="47" y="83"/>
                  </a:cubicBezTo>
                  <a:cubicBezTo>
                    <a:pt x="42" y="83"/>
                    <a:pt x="37" y="83"/>
                    <a:pt x="34" y="78"/>
                  </a:cubicBezTo>
                  <a:cubicBezTo>
                    <a:pt x="32" y="76"/>
                    <a:pt x="31" y="73"/>
                    <a:pt x="29" y="70"/>
                  </a:cubicBezTo>
                  <a:cubicBezTo>
                    <a:pt x="24" y="62"/>
                    <a:pt x="14" y="61"/>
                    <a:pt x="8" y="68"/>
                  </a:cubicBezTo>
                  <a:cubicBezTo>
                    <a:pt x="2" y="76"/>
                    <a:pt x="0" y="86"/>
                    <a:pt x="0" y="95"/>
                  </a:cubicBezTo>
                  <a:cubicBezTo>
                    <a:pt x="0" y="105"/>
                    <a:pt x="2" y="115"/>
                    <a:pt x="8" y="122"/>
                  </a:cubicBezTo>
                  <a:cubicBezTo>
                    <a:pt x="14" y="130"/>
                    <a:pt x="24" y="129"/>
                    <a:pt x="29" y="121"/>
                  </a:cubicBezTo>
                  <a:cubicBezTo>
                    <a:pt x="31" y="118"/>
                    <a:pt x="32" y="115"/>
                    <a:pt x="34" y="113"/>
                  </a:cubicBezTo>
                  <a:cubicBezTo>
                    <a:pt x="37" y="108"/>
                    <a:pt x="42" y="108"/>
                    <a:pt x="47" y="108"/>
                  </a:cubicBezTo>
                  <a:cubicBezTo>
                    <a:pt x="49" y="108"/>
                    <a:pt x="51" y="111"/>
                    <a:pt x="52" y="113"/>
                  </a:cubicBezTo>
                  <a:cubicBezTo>
                    <a:pt x="52" y="183"/>
                    <a:pt x="52" y="183"/>
                    <a:pt x="52" y="183"/>
                  </a:cubicBezTo>
                  <a:cubicBezTo>
                    <a:pt x="52" y="191"/>
                    <a:pt x="59" y="198"/>
                    <a:pt x="67" y="198"/>
                  </a:cubicBezTo>
                  <a:cubicBezTo>
                    <a:pt x="234" y="198"/>
                    <a:pt x="234" y="198"/>
                    <a:pt x="234" y="198"/>
                  </a:cubicBezTo>
                  <a:cubicBezTo>
                    <a:pt x="242" y="198"/>
                    <a:pt x="249" y="191"/>
                    <a:pt x="249" y="183"/>
                  </a:cubicBezTo>
                  <a:cubicBezTo>
                    <a:pt x="249" y="15"/>
                    <a:pt x="249" y="15"/>
                    <a:pt x="249" y="15"/>
                  </a:cubicBezTo>
                  <a:cubicBezTo>
                    <a:pt x="249" y="7"/>
                    <a:pt x="242" y="0"/>
                    <a:pt x="234" y="0"/>
                  </a:cubicBezTo>
                  <a:cubicBezTo>
                    <a:pt x="182" y="0"/>
                    <a:pt x="182" y="0"/>
                    <a:pt x="182" y="0"/>
                  </a:cubicBezTo>
                  <a:cubicBezTo>
                    <a:pt x="188" y="5"/>
                    <a:pt x="192" y="13"/>
                    <a:pt x="192" y="21"/>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sp>
        <p:nvSpPr>
          <p:cNvPr id="29" name="Slide Number Placeholder 28">
            <a:extLst>
              <a:ext uri="{FF2B5EF4-FFF2-40B4-BE49-F238E27FC236}">
                <a16:creationId xmlns:a16="http://schemas.microsoft.com/office/drawing/2014/main" id="{5B3D5F8B-D6DD-4B66-5D54-25FCED6557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dirty="0"/>
          </a:p>
        </p:txBody>
      </p:sp>
    </p:spTree>
    <p:extLst>
      <p:ext uri="{BB962C8B-B14F-4D97-AF65-F5344CB8AC3E}">
        <p14:creationId xmlns:p14="http://schemas.microsoft.com/office/powerpoint/2010/main" val="1365827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A923-A037-8DD3-6131-A0EBDD98982E}"/>
              </a:ext>
            </a:extLst>
          </p:cNvPr>
          <p:cNvSpPr>
            <a:spLocks noGrp="1"/>
          </p:cNvSpPr>
          <p:nvPr>
            <p:ph type="title"/>
          </p:nvPr>
        </p:nvSpPr>
        <p:spPr/>
        <p:txBody>
          <a:bodyPr/>
          <a:lstStyle/>
          <a:p>
            <a:r>
              <a:rPr lang="en-IN" dirty="0"/>
              <a:t>Project Cost</a:t>
            </a:r>
          </a:p>
        </p:txBody>
      </p:sp>
      <p:pic>
        <p:nvPicPr>
          <p:cNvPr id="1026" name="Picture 2" descr="null">
            <a:extLst>
              <a:ext uri="{FF2B5EF4-FFF2-40B4-BE49-F238E27FC236}">
                <a16:creationId xmlns:a16="http://schemas.microsoft.com/office/drawing/2014/main" id="{ABAE6801-721B-E69B-899E-B6D9B71CA467}"/>
              </a:ext>
            </a:extLst>
          </p:cNvPr>
          <p:cNvPicPr>
            <a:picLocks noChangeAspect="1" noChangeArrowheads="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81123" y="592565"/>
            <a:ext cx="253662" cy="37306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E3D5034E-471F-5B92-9EA0-F0A64FC7BA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dirty="0"/>
          </a:p>
        </p:txBody>
      </p:sp>
      <p:graphicFrame>
        <p:nvGraphicFramePr>
          <p:cNvPr id="8" name="Table 7">
            <a:extLst>
              <a:ext uri="{FF2B5EF4-FFF2-40B4-BE49-F238E27FC236}">
                <a16:creationId xmlns:a16="http://schemas.microsoft.com/office/drawing/2014/main" id="{E60312FA-5427-1351-C63B-C7C174D0D1FA}"/>
              </a:ext>
            </a:extLst>
          </p:cNvPr>
          <p:cNvGraphicFramePr>
            <a:graphicFrameLocks noGrp="1"/>
          </p:cNvGraphicFramePr>
          <p:nvPr>
            <p:extLst>
              <p:ext uri="{D42A27DB-BD31-4B8C-83A1-F6EECF244321}">
                <p14:modId xmlns:p14="http://schemas.microsoft.com/office/powerpoint/2010/main" val="1767669025"/>
              </p:ext>
            </p:extLst>
          </p:nvPr>
        </p:nvGraphicFramePr>
        <p:xfrm>
          <a:off x="2185011" y="1455630"/>
          <a:ext cx="4319157" cy="3279038"/>
        </p:xfrm>
        <a:graphic>
          <a:graphicData uri="http://schemas.openxmlformats.org/drawingml/2006/table">
            <a:tbl>
              <a:tblPr firstRow="1" bandRow="1">
                <a:tableStyleId>{E27665BA-8202-44FC-AD62-C9F0E3EA811A}</a:tableStyleId>
              </a:tblPr>
              <a:tblGrid>
                <a:gridCol w="2625528">
                  <a:extLst>
                    <a:ext uri="{9D8B030D-6E8A-4147-A177-3AD203B41FA5}">
                      <a16:colId xmlns:a16="http://schemas.microsoft.com/office/drawing/2014/main" val="803262291"/>
                    </a:ext>
                  </a:extLst>
                </a:gridCol>
                <a:gridCol w="818984">
                  <a:extLst>
                    <a:ext uri="{9D8B030D-6E8A-4147-A177-3AD203B41FA5}">
                      <a16:colId xmlns:a16="http://schemas.microsoft.com/office/drawing/2014/main" val="1833604541"/>
                    </a:ext>
                  </a:extLst>
                </a:gridCol>
                <a:gridCol w="874645">
                  <a:extLst>
                    <a:ext uri="{9D8B030D-6E8A-4147-A177-3AD203B41FA5}">
                      <a16:colId xmlns:a16="http://schemas.microsoft.com/office/drawing/2014/main" val="772798490"/>
                    </a:ext>
                  </a:extLst>
                </a:gridCol>
              </a:tblGrid>
              <a:tr h="264558">
                <a:tc>
                  <a:txBody>
                    <a:bodyPr/>
                    <a:lstStyle/>
                    <a:p>
                      <a:pPr algn="ctr"/>
                      <a:r>
                        <a:rPr lang="en-IN" sz="1200" b="1" i="0" u="none" dirty="0">
                          <a:effectLst/>
                          <a:latin typeface="Times New Roman" panose="02020603050405020304" pitchFamily="18" charset="0"/>
                          <a:ea typeface="ADLaM Display" panose="020F0502020204030204" pitchFamily="2" charset="0"/>
                          <a:cs typeface="Times New Roman" panose="02020603050405020304" pitchFamily="18" charset="0"/>
                        </a:rPr>
                        <a:t>Components</a:t>
                      </a:r>
                    </a:p>
                  </a:txBody>
                  <a:tcPr marL="72000"/>
                </a:tc>
                <a:tc>
                  <a:txBody>
                    <a:bodyPr/>
                    <a:lstStyle/>
                    <a:p>
                      <a:pPr algn="ctr"/>
                      <a:r>
                        <a:rPr lang="en-IN" sz="1200" b="1" i="0" u="none">
                          <a:effectLst/>
                          <a:latin typeface="Times New Roman" panose="02020603050405020304" pitchFamily="18" charset="0"/>
                          <a:ea typeface="ADLaM Display" panose="020F0502020204030204" pitchFamily="2" charset="0"/>
                          <a:cs typeface="Times New Roman" panose="02020603050405020304" pitchFamily="18" charset="0"/>
                        </a:rPr>
                        <a:t>Quantity</a:t>
                      </a:r>
                      <a:endParaRPr lang="en-IN" sz="1200" b="1" i="0" u="none" dirty="0">
                        <a:effectLst/>
                        <a:latin typeface="Times New Roman" panose="02020603050405020304" pitchFamily="18" charset="0"/>
                        <a:ea typeface="ADLaM Display" panose="020F0502020204030204" pitchFamily="2" charset="0"/>
                        <a:cs typeface="Times New Roman" panose="02020603050405020304" pitchFamily="18" charset="0"/>
                      </a:endParaRPr>
                    </a:p>
                  </a:txBody>
                  <a:tcPr marL="72000"/>
                </a:tc>
                <a:tc>
                  <a:txBody>
                    <a:bodyPr/>
                    <a:lstStyle/>
                    <a:p>
                      <a:pPr algn="ctr"/>
                      <a:r>
                        <a:rPr lang="en-IN" sz="1200" b="1" i="0" u="none" dirty="0">
                          <a:effectLst/>
                          <a:latin typeface="Times New Roman" panose="02020603050405020304" pitchFamily="18" charset="0"/>
                          <a:ea typeface="ADLaM Display" panose="020F0502020204030204" pitchFamily="2" charset="0"/>
                          <a:cs typeface="Times New Roman" panose="02020603050405020304" pitchFamily="18" charset="0"/>
                        </a:rPr>
                        <a:t>Cost</a:t>
                      </a:r>
                    </a:p>
                  </a:txBody>
                  <a:tcPr marL="72000"/>
                </a:tc>
                <a:extLst>
                  <a:ext uri="{0D108BD9-81ED-4DB2-BD59-A6C34878D82A}">
                    <a16:rowId xmlns:a16="http://schemas.microsoft.com/office/drawing/2014/main" val="3019995751"/>
                  </a:ext>
                </a:extLst>
              </a:tr>
              <a:tr h="264558">
                <a:tc>
                  <a:txBody>
                    <a:bodyPr/>
                    <a:lstStyle/>
                    <a:p>
                      <a:pPr algn="ctr"/>
                      <a:r>
                        <a:rPr lang="en-IN" sz="1000" b="0">
                          <a:latin typeface="+mn-lt"/>
                          <a:ea typeface="Roboto Condensed Light" panose="02000000000000000000" pitchFamily="2" charset="0"/>
                          <a:cs typeface="Roboto Condensed Light" panose="02000000000000000000" pitchFamily="2" charset="0"/>
                        </a:rPr>
                        <a:t>Arduino Nano</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5</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1250</a:t>
                      </a:r>
                      <a:endParaRPr lang="en-IN" sz="1000" b="0" dirty="0">
                        <a:latin typeface="+mn-lt"/>
                        <a:ea typeface="Roboto Condensed Light" panose="02000000000000000000" pitchFamily="2" charset="0"/>
                        <a:cs typeface="Roboto Condensed Light" panose="02000000000000000000" pitchFamily="2" charset="0"/>
                      </a:endParaRPr>
                    </a:p>
                  </a:txBody>
                  <a:tcPr marL="72000"/>
                </a:tc>
                <a:extLst>
                  <a:ext uri="{0D108BD9-81ED-4DB2-BD59-A6C34878D82A}">
                    <a16:rowId xmlns:a16="http://schemas.microsoft.com/office/drawing/2014/main" val="941406518"/>
                  </a:ext>
                </a:extLst>
              </a:tr>
              <a:tr h="264558">
                <a:tc>
                  <a:txBody>
                    <a:bodyPr/>
                    <a:lstStyle/>
                    <a:p>
                      <a:pPr algn="ctr"/>
                      <a:r>
                        <a:rPr lang="en-IN" sz="1000" b="0">
                          <a:latin typeface="+mn-lt"/>
                          <a:ea typeface="Roboto Condensed Light" panose="02000000000000000000" pitchFamily="2" charset="0"/>
                          <a:cs typeface="Roboto Condensed Light" panose="02000000000000000000" pitchFamily="2" charset="0"/>
                        </a:rPr>
                        <a:t>NRF24LO1</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5</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500</a:t>
                      </a:r>
                      <a:endParaRPr lang="en-IN" sz="1000" b="0" dirty="0">
                        <a:latin typeface="+mn-lt"/>
                        <a:ea typeface="Roboto Condensed Light" panose="02000000000000000000" pitchFamily="2" charset="0"/>
                        <a:cs typeface="Roboto Condensed Light" panose="02000000000000000000" pitchFamily="2" charset="0"/>
                      </a:endParaRPr>
                    </a:p>
                  </a:txBody>
                  <a:tcPr marL="72000"/>
                </a:tc>
                <a:extLst>
                  <a:ext uri="{0D108BD9-81ED-4DB2-BD59-A6C34878D82A}">
                    <a16:rowId xmlns:a16="http://schemas.microsoft.com/office/drawing/2014/main" val="2843010961"/>
                  </a:ext>
                </a:extLst>
              </a:tr>
              <a:tr h="264558">
                <a:tc>
                  <a:txBody>
                    <a:bodyPr/>
                    <a:lstStyle/>
                    <a:p>
                      <a:pPr algn="ctr"/>
                      <a:r>
                        <a:rPr lang="en-IN" sz="1000" b="0">
                          <a:latin typeface="+mn-lt"/>
                          <a:ea typeface="Roboto Condensed Light" panose="02000000000000000000" pitchFamily="2" charset="0"/>
                          <a:cs typeface="Roboto Condensed Light" panose="02000000000000000000" pitchFamily="2" charset="0"/>
                        </a:rPr>
                        <a:t>Small Buzzer</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5</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75</a:t>
                      </a:r>
                      <a:endParaRPr lang="en-IN" sz="1000" b="0" dirty="0">
                        <a:latin typeface="+mn-lt"/>
                        <a:ea typeface="Roboto Condensed Light" panose="02000000000000000000" pitchFamily="2" charset="0"/>
                        <a:cs typeface="Roboto Condensed Light" panose="02000000000000000000" pitchFamily="2" charset="0"/>
                      </a:endParaRPr>
                    </a:p>
                  </a:txBody>
                  <a:tcPr marL="72000"/>
                </a:tc>
                <a:extLst>
                  <a:ext uri="{0D108BD9-81ED-4DB2-BD59-A6C34878D82A}">
                    <a16:rowId xmlns:a16="http://schemas.microsoft.com/office/drawing/2014/main" val="633602478"/>
                  </a:ext>
                </a:extLst>
              </a:tr>
              <a:tr h="281292">
                <a:tc>
                  <a:txBody>
                    <a:bodyPr/>
                    <a:lstStyle/>
                    <a:p>
                      <a:pPr algn="ctr"/>
                      <a:r>
                        <a:rPr lang="en-IN" sz="1000" b="0">
                          <a:latin typeface="+mn-lt"/>
                          <a:ea typeface="Roboto Condensed Light" panose="02000000000000000000" pitchFamily="2" charset="0"/>
                          <a:cs typeface="Roboto Condensed Light" panose="02000000000000000000" pitchFamily="2" charset="0"/>
                        </a:rPr>
                        <a:t>Li ion batteries</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10</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dirty="0">
                          <a:latin typeface="+mn-lt"/>
                          <a:ea typeface="Roboto Condensed Light" panose="02000000000000000000" pitchFamily="2" charset="0"/>
                          <a:cs typeface="Roboto Condensed Light" panose="02000000000000000000" pitchFamily="2" charset="0"/>
                        </a:rPr>
                        <a:t>750</a:t>
                      </a:r>
                    </a:p>
                  </a:txBody>
                  <a:tcPr marL="72000"/>
                </a:tc>
                <a:extLst>
                  <a:ext uri="{0D108BD9-81ED-4DB2-BD59-A6C34878D82A}">
                    <a16:rowId xmlns:a16="http://schemas.microsoft.com/office/drawing/2014/main" val="4077830472"/>
                  </a:ext>
                </a:extLst>
              </a:tr>
              <a:tr h="230434">
                <a:tc>
                  <a:txBody>
                    <a:bodyPr/>
                    <a:lstStyle/>
                    <a:p>
                      <a:pPr algn="ctr"/>
                      <a:r>
                        <a:rPr lang="en-IN" sz="1000" b="0" dirty="0">
                          <a:latin typeface="+mn-lt"/>
                          <a:ea typeface="Roboto Condensed Light" panose="02000000000000000000" pitchFamily="2" charset="0"/>
                          <a:cs typeface="Roboto Condensed Light" panose="02000000000000000000" pitchFamily="2" charset="0"/>
                        </a:rPr>
                        <a:t>TP4051</a:t>
                      </a:r>
                    </a:p>
                  </a:txBody>
                  <a:tcPr marL="72000"/>
                </a:tc>
                <a:tc>
                  <a:txBody>
                    <a:bodyPr/>
                    <a:lstStyle/>
                    <a:p>
                      <a:pPr algn="ctr"/>
                      <a:r>
                        <a:rPr lang="en-IN" sz="1000" b="0">
                          <a:latin typeface="+mn-lt"/>
                          <a:ea typeface="Roboto Condensed Light" panose="02000000000000000000" pitchFamily="2" charset="0"/>
                          <a:cs typeface="Roboto Condensed Light" panose="02000000000000000000" pitchFamily="2" charset="0"/>
                        </a:rPr>
                        <a:t>1</a:t>
                      </a:r>
                      <a:endParaRPr lang="en-IN" sz="1000" b="0" dirty="0">
                        <a:latin typeface="+mn-lt"/>
                        <a:ea typeface="Roboto Condensed Light" panose="02000000000000000000" pitchFamily="2" charset="0"/>
                        <a:cs typeface="Roboto Condensed Light" panose="02000000000000000000" pitchFamily="2" charset="0"/>
                      </a:endParaRPr>
                    </a:p>
                  </a:txBody>
                  <a:tcPr marL="72000"/>
                </a:tc>
                <a:tc>
                  <a:txBody>
                    <a:bodyPr/>
                    <a:lstStyle/>
                    <a:p>
                      <a:pPr algn="ctr"/>
                      <a:r>
                        <a:rPr lang="en-IN" sz="1000" b="0" dirty="0">
                          <a:latin typeface="+mn-lt"/>
                          <a:ea typeface="Roboto Condensed Light" panose="02000000000000000000" pitchFamily="2" charset="0"/>
                          <a:cs typeface="Roboto Condensed Light" panose="02000000000000000000" pitchFamily="2" charset="0"/>
                        </a:rPr>
                        <a:t>45</a:t>
                      </a:r>
                    </a:p>
                  </a:txBody>
                  <a:tcPr marL="72000"/>
                </a:tc>
                <a:extLst>
                  <a:ext uri="{0D108BD9-81ED-4DB2-BD59-A6C34878D82A}">
                    <a16:rowId xmlns:a16="http://schemas.microsoft.com/office/drawing/2014/main" val="1896061946"/>
                  </a:ext>
                </a:extLst>
              </a:tr>
              <a:tr h="260852">
                <a:tc>
                  <a:txBody>
                    <a:bodyPr/>
                    <a:lstStyle/>
                    <a:p>
                      <a:pPr algn="ctr"/>
                      <a:r>
                        <a:rPr lang="en-IN" sz="1000" b="0" dirty="0">
                          <a:latin typeface="+mn-lt"/>
                          <a:ea typeface="Roboto Condensed Light" panose="02000000000000000000" pitchFamily="2" charset="0"/>
                          <a:cs typeface="Roboto Condensed Light" panose="02000000000000000000" pitchFamily="2" charset="0"/>
                        </a:rPr>
                        <a:t>Double Battery sockets</a:t>
                      </a:r>
                    </a:p>
                  </a:txBody>
                  <a:tcPr marL="72000"/>
                </a:tc>
                <a:tc>
                  <a:txBody>
                    <a:bodyPr/>
                    <a:lstStyle/>
                    <a:p>
                      <a:pPr algn="ctr"/>
                      <a:r>
                        <a:rPr lang="en-IN" sz="1000" b="0" dirty="0">
                          <a:latin typeface="+mn-lt"/>
                          <a:ea typeface="Roboto Condensed Light" panose="02000000000000000000" pitchFamily="2" charset="0"/>
                          <a:cs typeface="Roboto Condensed Light" panose="02000000000000000000" pitchFamily="2" charset="0"/>
                        </a:rPr>
                        <a:t>5</a:t>
                      </a:r>
                    </a:p>
                  </a:txBody>
                  <a:tcPr marL="72000"/>
                </a:tc>
                <a:tc>
                  <a:txBody>
                    <a:bodyPr/>
                    <a:lstStyle/>
                    <a:p>
                      <a:pPr algn="ctr"/>
                      <a:r>
                        <a:rPr lang="en-IN" sz="1000" b="0" dirty="0">
                          <a:latin typeface="+mn-lt"/>
                          <a:ea typeface="Roboto Condensed Light" panose="02000000000000000000" pitchFamily="2" charset="0"/>
                          <a:cs typeface="Roboto Condensed Light" panose="02000000000000000000" pitchFamily="2" charset="0"/>
                        </a:rPr>
                        <a:t>150</a:t>
                      </a:r>
                    </a:p>
                  </a:txBody>
                  <a:tcPr marL="72000"/>
                </a:tc>
                <a:extLst>
                  <a:ext uri="{0D108BD9-81ED-4DB2-BD59-A6C34878D82A}">
                    <a16:rowId xmlns:a16="http://schemas.microsoft.com/office/drawing/2014/main" val="3235320867"/>
                  </a:ext>
                </a:extLst>
              </a:tr>
              <a:tr h="277710">
                <a:tc>
                  <a:txBody>
                    <a:bodyPr/>
                    <a:lstStyle/>
                    <a:p>
                      <a:pPr algn="ctr"/>
                      <a:r>
                        <a:rPr lang="en-IN" sz="1000" b="0" dirty="0">
                          <a:latin typeface="+mn-lt"/>
                          <a:ea typeface="Roboto Condensed Light" panose="02000000000000000000" pitchFamily="2" charset="0"/>
                          <a:cs typeface="Roboto Condensed Light" panose="02000000000000000000" pitchFamily="2" charset="0"/>
                        </a:rPr>
                        <a:t>Nano programming cable</a:t>
                      </a:r>
                    </a:p>
                  </a:txBody>
                  <a:tcPr marL="72000"/>
                </a:tc>
                <a:tc>
                  <a:txBody>
                    <a:bodyPr/>
                    <a:lstStyle/>
                    <a:p>
                      <a:pPr algn="ctr"/>
                      <a:r>
                        <a:rPr lang="en-IN" sz="1000" b="0" dirty="0">
                          <a:latin typeface="+mn-lt"/>
                          <a:ea typeface="Roboto Condensed Light" panose="02000000000000000000" pitchFamily="2" charset="0"/>
                          <a:cs typeface="Roboto Condensed Light" panose="02000000000000000000" pitchFamily="2" charset="0"/>
                        </a:rPr>
                        <a:t>2</a:t>
                      </a:r>
                    </a:p>
                  </a:txBody>
                  <a:tcPr marL="72000"/>
                </a:tc>
                <a:tc>
                  <a:txBody>
                    <a:bodyPr/>
                    <a:lstStyle/>
                    <a:p>
                      <a:pPr algn="ctr"/>
                      <a:r>
                        <a:rPr lang="en-IN" sz="1000" b="0" dirty="0">
                          <a:latin typeface="+mn-lt"/>
                          <a:ea typeface="Roboto Condensed Light" panose="02000000000000000000" pitchFamily="2" charset="0"/>
                          <a:cs typeface="Roboto Condensed Light" panose="02000000000000000000" pitchFamily="2" charset="0"/>
                        </a:rPr>
                        <a:t>80</a:t>
                      </a:r>
                    </a:p>
                  </a:txBody>
                  <a:tcPr marL="72000"/>
                </a:tc>
                <a:extLst>
                  <a:ext uri="{0D108BD9-81ED-4DB2-BD59-A6C34878D82A}">
                    <a16:rowId xmlns:a16="http://schemas.microsoft.com/office/drawing/2014/main" val="2045907858"/>
                  </a:ext>
                </a:extLst>
              </a:tr>
              <a:tr h="301170">
                <a:tc>
                  <a:txBody>
                    <a:bodyPr/>
                    <a:lstStyle/>
                    <a:p>
                      <a:pPr algn="ctr"/>
                      <a:r>
                        <a:rPr lang="en-IN" sz="1050" b="0" dirty="0">
                          <a:latin typeface="+mn-lt"/>
                        </a:rPr>
                        <a:t>Female to female jumper wires</a:t>
                      </a:r>
                    </a:p>
                  </a:txBody>
                  <a:tcPr marL="72000"/>
                </a:tc>
                <a:tc>
                  <a:txBody>
                    <a:bodyPr/>
                    <a:lstStyle/>
                    <a:p>
                      <a:pPr algn="ctr"/>
                      <a:r>
                        <a:rPr lang="en-IN" sz="1050" dirty="0"/>
                        <a:t>25</a:t>
                      </a:r>
                    </a:p>
                  </a:txBody>
                  <a:tcPr marL="72000"/>
                </a:tc>
                <a:tc>
                  <a:txBody>
                    <a:bodyPr/>
                    <a:lstStyle/>
                    <a:p>
                      <a:pPr algn="ctr"/>
                      <a:r>
                        <a:rPr lang="en-IN" sz="1050" dirty="0"/>
                        <a:t>200</a:t>
                      </a:r>
                    </a:p>
                  </a:txBody>
                  <a:tcPr marL="72000"/>
                </a:tc>
                <a:extLst>
                  <a:ext uri="{0D108BD9-81ED-4DB2-BD59-A6C34878D82A}">
                    <a16:rowId xmlns:a16="http://schemas.microsoft.com/office/drawing/2014/main" val="3420298328"/>
                  </a:ext>
                </a:extLst>
              </a:tr>
              <a:tr h="301170">
                <a:tc>
                  <a:txBody>
                    <a:bodyPr/>
                    <a:lstStyle/>
                    <a:p>
                      <a:pPr algn="ctr"/>
                      <a:r>
                        <a:rPr lang="en-IN" sz="1000" b="0" i="0" u="none" strike="noStrike" cap="none" dirty="0">
                          <a:solidFill>
                            <a:srgbClr val="000000"/>
                          </a:solidFill>
                          <a:effectLst/>
                          <a:latin typeface="Arial"/>
                          <a:ea typeface="Arial"/>
                          <a:cs typeface="Arial"/>
                          <a:sym typeface="Arial"/>
                        </a:rPr>
                        <a:t>MQ2 Smoke Sensor Module </a:t>
                      </a:r>
                      <a:endParaRPr lang="en-IN" sz="1000" dirty="0"/>
                    </a:p>
                  </a:txBody>
                  <a:tcPr marL="72000"/>
                </a:tc>
                <a:tc>
                  <a:txBody>
                    <a:bodyPr/>
                    <a:lstStyle/>
                    <a:p>
                      <a:pPr algn="ctr"/>
                      <a:r>
                        <a:rPr lang="en-IN" sz="1000" dirty="0"/>
                        <a:t>2</a:t>
                      </a:r>
                    </a:p>
                  </a:txBody>
                  <a:tcPr marL="72000"/>
                </a:tc>
                <a:tc>
                  <a:txBody>
                    <a:bodyPr/>
                    <a:lstStyle/>
                    <a:p>
                      <a:pPr algn="ctr"/>
                      <a:r>
                        <a:rPr lang="en-IN" sz="1000" dirty="0"/>
                        <a:t>160</a:t>
                      </a:r>
                    </a:p>
                  </a:txBody>
                  <a:tcPr marL="72000"/>
                </a:tc>
                <a:extLst>
                  <a:ext uri="{0D108BD9-81ED-4DB2-BD59-A6C34878D82A}">
                    <a16:rowId xmlns:a16="http://schemas.microsoft.com/office/drawing/2014/main" val="4015975488"/>
                  </a:ext>
                </a:extLst>
              </a:tr>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rgbClr val="000000"/>
                          </a:solidFill>
                          <a:effectLst/>
                          <a:latin typeface="Arial"/>
                          <a:ea typeface="Arial"/>
                          <a:cs typeface="Arial"/>
                          <a:sym typeface="Arial"/>
                        </a:rPr>
                        <a:t>16x2 LCD Display with I2C interface – Blue</a:t>
                      </a:r>
                    </a:p>
                  </a:txBody>
                  <a:tcPr marL="72000"/>
                </a:tc>
                <a:tc>
                  <a:txBody>
                    <a:bodyPr/>
                    <a:lstStyle/>
                    <a:p>
                      <a:pPr algn="ctr"/>
                      <a:r>
                        <a:rPr lang="en-IN" sz="1000" dirty="0"/>
                        <a:t>1</a:t>
                      </a:r>
                    </a:p>
                  </a:txBody>
                  <a:tcPr marL="72000"/>
                </a:tc>
                <a:tc>
                  <a:txBody>
                    <a:bodyPr/>
                    <a:lstStyle/>
                    <a:p>
                      <a:pPr algn="ctr"/>
                      <a:r>
                        <a:rPr lang="en-IN" sz="1000" dirty="0"/>
                        <a:t>160</a:t>
                      </a:r>
                    </a:p>
                  </a:txBody>
                  <a:tcPr marL="72000"/>
                </a:tc>
                <a:extLst>
                  <a:ext uri="{0D108BD9-81ED-4DB2-BD59-A6C34878D82A}">
                    <a16:rowId xmlns:a16="http://schemas.microsoft.com/office/drawing/2014/main" val="2176891937"/>
                  </a:ext>
                </a:extLst>
              </a:tr>
              <a:tr h="301170">
                <a:tc>
                  <a:txBody>
                    <a:bodyPr/>
                    <a:lstStyle/>
                    <a:p>
                      <a:pPr algn="ctr"/>
                      <a:endParaRPr lang="en-IN" sz="1200" dirty="0"/>
                    </a:p>
                  </a:txBody>
                  <a:tcPr marL="72000"/>
                </a:tc>
                <a:tc>
                  <a:txBody>
                    <a:bodyPr/>
                    <a:lstStyle/>
                    <a:p>
                      <a:pPr algn="ctr"/>
                      <a:endParaRPr lang="en-IN" sz="1200" dirty="0"/>
                    </a:p>
                  </a:txBody>
                  <a:tcPr marL="72000"/>
                </a:tc>
                <a:tc>
                  <a:txBody>
                    <a:bodyPr/>
                    <a:lstStyle/>
                    <a:p>
                      <a:pPr algn="ctr"/>
                      <a:endParaRPr lang="en-IN" sz="1200" dirty="0"/>
                    </a:p>
                  </a:txBody>
                  <a:tcPr marL="72000"/>
                </a:tc>
                <a:extLst>
                  <a:ext uri="{0D108BD9-81ED-4DB2-BD59-A6C34878D82A}">
                    <a16:rowId xmlns:a16="http://schemas.microsoft.com/office/drawing/2014/main" val="1087460455"/>
                  </a:ext>
                </a:extLst>
              </a:tr>
            </a:tbl>
          </a:graphicData>
        </a:graphic>
      </p:graphicFrame>
    </p:spTree>
    <p:extLst>
      <p:ext uri="{BB962C8B-B14F-4D97-AF65-F5344CB8AC3E}">
        <p14:creationId xmlns:p14="http://schemas.microsoft.com/office/powerpoint/2010/main" val="2598357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D44EA-77F6-80BE-7073-FA36AABEE315}"/>
              </a:ext>
            </a:extLst>
          </p:cNvPr>
          <p:cNvSpPr>
            <a:spLocks noGrp="1"/>
          </p:cNvSpPr>
          <p:nvPr>
            <p:ph type="title"/>
          </p:nvPr>
        </p:nvSpPr>
        <p:spPr/>
        <p:txBody>
          <a:bodyPr/>
          <a:lstStyle/>
          <a:p>
            <a:r>
              <a:rPr lang="en-IN" dirty="0"/>
              <a:t>Methodology</a:t>
            </a:r>
          </a:p>
        </p:txBody>
      </p:sp>
      <p:sp>
        <p:nvSpPr>
          <p:cNvPr id="3" name="Text Placeholder 2">
            <a:extLst>
              <a:ext uri="{FF2B5EF4-FFF2-40B4-BE49-F238E27FC236}">
                <a16:creationId xmlns:a16="http://schemas.microsoft.com/office/drawing/2014/main" id="{4D53324E-8551-62BC-603D-E3EF2486D0D9}"/>
              </a:ext>
            </a:extLst>
          </p:cNvPr>
          <p:cNvSpPr>
            <a:spLocks noGrp="1"/>
          </p:cNvSpPr>
          <p:nvPr>
            <p:ph type="body" idx="1"/>
          </p:nvPr>
        </p:nvSpPr>
        <p:spPr>
          <a:xfrm>
            <a:off x="814275" y="1720257"/>
            <a:ext cx="6132600" cy="3145500"/>
          </a:xfrm>
        </p:spPr>
        <p:txBody>
          <a:bodyPr/>
          <a:lstStyle/>
          <a:p>
            <a:r>
              <a:rPr lang="en-IN" dirty="0"/>
              <a:t>In this system the </a:t>
            </a:r>
            <a:r>
              <a:rPr lang="en-IN" dirty="0" err="1"/>
              <a:t>arduinos</a:t>
            </a:r>
            <a:r>
              <a:rPr lang="en-IN" dirty="0"/>
              <a:t> are connected to each other through NRF24L01.</a:t>
            </a:r>
          </a:p>
          <a:p>
            <a:r>
              <a:rPr lang="en-IN" dirty="0"/>
              <a:t>The nodes are connected in a tree structure with one node as base node.</a:t>
            </a:r>
          </a:p>
          <a:p>
            <a:r>
              <a:rPr lang="en-IN" dirty="0"/>
              <a:t>The connection does not break even if one of the nodes fail or gets damaged.</a:t>
            </a:r>
          </a:p>
          <a:p>
            <a:r>
              <a:rPr lang="en-IN" dirty="0"/>
              <a:t>The system then alerts through a buzzer.</a:t>
            </a:r>
          </a:p>
          <a:p>
            <a:endParaRPr lang="en-IN" dirty="0"/>
          </a:p>
          <a:p>
            <a:endParaRPr lang="en-IN" dirty="0"/>
          </a:p>
        </p:txBody>
      </p:sp>
      <p:grpSp>
        <p:nvGrpSpPr>
          <p:cNvPr id="5" name="Google Shape;1018;p46">
            <a:extLst>
              <a:ext uri="{FF2B5EF4-FFF2-40B4-BE49-F238E27FC236}">
                <a16:creationId xmlns:a16="http://schemas.microsoft.com/office/drawing/2014/main" id="{C3A4BB9C-FCCF-B025-93A5-AE8C8318435C}"/>
              </a:ext>
            </a:extLst>
          </p:cNvPr>
          <p:cNvGrpSpPr/>
          <p:nvPr/>
        </p:nvGrpSpPr>
        <p:grpSpPr>
          <a:xfrm>
            <a:off x="225042" y="568121"/>
            <a:ext cx="491261" cy="415107"/>
            <a:chOff x="5247525" y="3007275"/>
            <a:chExt cx="517575" cy="384825"/>
          </a:xfrm>
        </p:grpSpPr>
        <p:sp>
          <p:nvSpPr>
            <p:cNvPr id="6" name="Google Shape;1019;p46">
              <a:extLst>
                <a:ext uri="{FF2B5EF4-FFF2-40B4-BE49-F238E27FC236}">
                  <a16:creationId xmlns:a16="http://schemas.microsoft.com/office/drawing/2014/main" id="{0D9098F9-78A8-2E40-AE47-84E6B7FCB4EF}"/>
                </a:ext>
              </a:extLst>
            </p:cNvPr>
            <p:cNvSpPr/>
            <p:nvPr/>
          </p:nvSpPr>
          <p:spPr>
            <a:xfrm>
              <a:off x="5247525" y="3007275"/>
              <a:ext cx="348900" cy="348900"/>
            </a:xfrm>
            <a:custGeom>
              <a:avLst/>
              <a:gdLst/>
              <a:ahLst/>
              <a:cxnLst/>
              <a:rect l="l" t="t" r="r" b="b"/>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020;p46">
              <a:extLst>
                <a:ext uri="{FF2B5EF4-FFF2-40B4-BE49-F238E27FC236}">
                  <a16:creationId xmlns:a16="http://schemas.microsoft.com/office/drawing/2014/main" id="{9D402F0B-4C19-19EF-B85D-2278D2D176F4}"/>
                </a:ext>
              </a:extLst>
            </p:cNvPr>
            <p:cNvSpPr/>
            <p:nvPr/>
          </p:nvSpPr>
          <p:spPr>
            <a:xfrm>
              <a:off x="5566575" y="3193575"/>
              <a:ext cx="198525" cy="198525"/>
            </a:xfrm>
            <a:custGeom>
              <a:avLst/>
              <a:gdLst/>
              <a:ahLst/>
              <a:cxnLst/>
              <a:rect l="l" t="t" r="r" b="b"/>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 name="Slide Number Placeholder 7">
            <a:extLst>
              <a:ext uri="{FF2B5EF4-FFF2-40B4-BE49-F238E27FC236}">
                <a16:creationId xmlns:a16="http://schemas.microsoft.com/office/drawing/2014/main" id="{B6A7D904-472B-BD68-5924-0D1A65B0BA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dirty="0"/>
          </a:p>
        </p:txBody>
      </p:sp>
    </p:spTree>
    <p:extLst>
      <p:ext uri="{BB962C8B-B14F-4D97-AF65-F5344CB8AC3E}">
        <p14:creationId xmlns:p14="http://schemas.microsoft.com/office/powerpoint/2010/main" val="3117476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C5C6C-E496-C632-9FB8-3B3731D13031}"/>
              </a:ext>
            </a:extLst>
          </p:cNvPr>
          <p:cNvSpPr>
            <a:spLocks noGrp="1"/>
          </p:cNvSpPr>
          <p:nvPr>
            <p:ph type="title"/>
          </p:nvPr>
        </p:nvSpPr>
        <p:spPr/>
        <p:txBody>
          <a:bodyPr/>
          <a:lstStyle/>
          <a:p>
            <a:r>
              <a:rPr lang="en-IN" dirty="0"/>
              <a:t>Block Diagram</a:t>
            </a:r>
          </a:p>
        </p:txBody>
      </p:sp>
      <p:grpSp>
        <p:nvGrpSpPr>
          <p:cNvPr id="17" name="Google Shape;545;p35">
            <a:extLst>
              <a:ext uri="{FF2B5EF4-FFF2-40B4-BE49-F238E27FC236}">
                <a16:creationId xmlns:a16="http://schemas.microsoft.com/office/drawing/2014/main" id="{BC2E3611-9FCD-022C-1D23-42969AE1306C}"/>
              </a:ext>
            </a:extLst>
          </p:cNvPr>
          <p:cNvGrpSpPr/>
          <p:nvPr/>
        </p:nvGrpSpPr>
        <p:grpSpPr>
          <a:xfrm>
            <a:off x="267223" y="610549"/>
            <a:ext cx="330270" cy="330251"/>
            <a:chOff x="1923675" y="1633650"/>
            <a:chExt cx="436000" cy="435975"/>
          </a:xfrm>
        </p:grpSpPr>
        <p:sp>
          <p:nvSpPr>
            <p:cNvPr id="18" name="Google Shape;546;p35">
              <a:extLst>
                <a:ext uri="{FF2B5EF4-FFF2-40B4-BE49-F238E27FC236}">
                  <a16:creationId xmlns:a16="http://schemas.microsoft.com/office/drawing/2014/main" id="{79DAF030-4C8A-24FB-F552-285694CB9707}"/>
                </a:ext>
              </a:extLst>
            </p:cNvPr>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547;p35">
              <a:extLst>
                <a:ext uri="{FF2B5EF4-FFF2-40B4-BE49-F238E27FC236}">
                  <a16:creationId xmlns:a16="http://schemas.microsoft.com/office/drawing/2014/main" id="{F84CE346-E0DC-570F-2AC5-B6205B7D6B01}"/>
                </a:ext>
              </a:extLst>
            </p:cNvPr>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548;p35">
              <a:extLst>
                <a:ext uri="{FF2B5EF4-FFF2-40B4-BE49-F238E27FC236}">
                  <a16:creationId xmlns:a16="http://schemas.microsoft.com/office/drawing/2014/main" id="{9CE4AA98-11C7-969E-E9D5-7947745824D4}"/>
                </a:ext>
              </a:extLst>
            </p:cNvPr>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549;p35">
              <a:extLst>
                <a:ext uri="{FF2B5EF4-FFF2-40B4-BE49-F238E27FC236}">
                  <a16:creationId xmlns:a16="http://schemas.microsoft.com/office/drawing/2014/main" id="{D6918844-BA37-316D-1A7C-1B844495DE4C}"/>
                </a:ext>
              </a:extLst>
            </p:cNvPr>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550;p35">
              <a:extLst>
                <a:ext uri="{FF2B5EF4-FFF2-40B4-BE49-F238E27FC236}">
                  <a16:creationId xmlns:a16="http://schemas.microsoft.com/office/drawing/2014/main" id="{B1D8A164-7F1D-85FF-3CF4-6C8A648EE69D}"/>
                </a:ext>
              </a:extLst>
            </p:cNvPr>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551;p35">
              <a:extLst>
                <a:ext uri="{FF2B5EF4-FFF2-40B4-BE49-F238E27FC236}">
                  <a16:creationId xmlns:a16="http://schemas.microsoft.com/office/drawing/2014/main" id="{ED2733E9-D9D9-54FD-68D0-04F273D81452}"/>
                </a:ext>
              </a:extLst>
            </p:cNvPr>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 name="Slide Number Placeholder 23">
            <a:extLst>
              <a:ext uri="{FF2B5EF4-FFF2-40B4-BE49-F238E27FC236}">
                <a16:creationId xmlns:a16="http://schemas.microsoft.com/office/drawing/2014/main" id="{60F34D40-6772-5B31-71B5-37F096B07B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dirty="0"/>
          </a:p>
        </p:txBody>
      </p:sp>
      <p:pic>
        <p:nvPicPr>
          <p:cNvPr id="5" name="Picture 4">
            <a:extLst>
              <a:ext uri="{FF2B5EF4-FFF2-40B4-BE49-F238E27FC236}">
                <a16:creationId xmlns:a16="http://schemas.microsoft.com/office/drawing/2014/main" id="{FD8CDD81-73F0-F2C8-E28D-516B2BA311E7}"/>
              </a:ext>
            </a:extLst>
          </p:cNvPr>
          <p:cNvPicPr>
            <a:picLocks noChangeAspect="1"/>
          </p:cNvPicPr>
          <p:nvPr/>
        </p:nvPicPr>
        <p:blipFill>
          <a:blip r:embed="rId2"/>
          <a:stretch>
            <a:fillRect/>
          </a:stretch>
        </p:blipFill>
        <p:spPr>
          <a:xfrm>
            <a:off x="1185862" y="1612586"/>
            <a:ext cx="5579269" cy="3138339"/>
          </a:xfrm>
          <a:prstGeom prst="rect">
            <a:avLst/>
          </a:prstGeom>
        </p:spPr>
      </p:pic>
    </p:spTree>
    <p:extLst>
      <p:ext uri="{BB962C8B-B14F-4D97-AF65-F5344CB8AC3E}">
        <p14:creationId xmlns:p14="http://schemas.microsoft.com/office/powerpoint/2010/main" val="717763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FAF4-6FB9-58B3-EE7A-C0B5C6C27487}"/>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A610EC4C-199F-898E-0E3C-6B8419969921}"/>
              </a:ext>
            </a:extLst>
          </p:cNvPr>
          <p:cNvSpPr>
            <a:spLocks noGrp="1"/>
          </p:cNvSpPr>
          <p:nvPr>
            <p:ph type="body" idx="1"/>
          </p:nvPr>
        </p:nvSpPr>
        <p:spPr>
          <a:xfrm>
            <a:off x="864281" y="1341638"/>
            <a:ext cx="6132600" cy="3145500"/>
          </a:xfrm>
        </p:spPr>
        <p:txBody>
          <a:bodyPr/>
          <a:lstStyle/>
          <a:p>
            <a:r>
              <a:rPr lang="en-US" sz="2000" dirty="0"/>
              <a:t>A wireless fire alarm system is a crucial component of modern building safety and security infrastructure. It offers numerous advantages, including rapid detection of fires, reduced installation complexity, and enhanced flexibility in system design. However, the successful implementation of such a system requires careful planning, adherence to regulations, and allocation of appropriate resources.</a:t>
            </a:r>
            <a:endParaRPr lang="en-IN" sz="2000" dirty="0"/>
          </a:p>
        </p:txBody>
      </p:sp>
      <p:sp>
        <p:nvSpPr>
          <p:cNvPr id="6" name="TextBox 5">
            <a:extLst>
              <a:ext uri="{FF2B5EF4-FFF2-40B4-BE49-F238E27FC236}">
                <a16:creationId xmlns:a16="http://schemas.microsoft.com/office/drawing/2014/main" id="{897BE499-C8D3-10D9-DE07-5966DC9A74D3}"/>
              </a:ext>
            </a:extLst>
          </p:cNvPr>
          <p:cNvSpPr txBox="1"/>
          <p:nvPr/>
        </p:nvSpPr>
        <p:spPr>
          <a:xfrm>
            <a:off x="181655" y="523813"/>
            <a:ext cx="4757737" cy="461665"/>
          </a:xfrm>
          <a:prstGeom prst="rect">
            <a:avLst/>
          </a:prstGeom>
          <a:noFill/>
        </p:spPr>
        <p:txBody>
          <a:bodyPr wrap="square">
            <a:spAutoFit/>
          </a:bodyPr>
          <a:lstStyle/>
          <a:p>
            <a:r>
              <a:rPr lang="en" sz="2400" dirty="0">
                <a:solidFill>
                  <a:srgbClr val="263248"/>
                </a:solidFill>
                <a:latin typeface="Roboto Condensed"/>
                <a:ea typeface="Roboto Condensed"/>
                <a:cs typeface="Roboto Condensed"/>
                <a:sym typeface="Roboto Condensed"/>
              </a:rPr>
              <a:t>📌</a:t>
            </a:r>
            <a:endParaRPr lang="en-IN" sz="2400" dirty="0"/>
          </a:p>
        </p:txBody>
      </p:sp>
      <p:sp>
        <p:nvSpPr>
          <p:cNvPr id="7" name="Slide Number Placeholder 6">
            <a:extLst>
              <a:ext uri="{FF2B5EF4-FFF2-40B4-BE49-F238E27FC236}">
                <a16:creationId xmlns:a16="http://schemas.microsoft.com/office/drawing/2014/main" id="{4190AAC3-5928-A05A-5C80-63AC7B3149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dirty="0"/>
          </a:p>
        </p:txBody>
      </p:sp>
    </p:spTree>
    <p:extLst>
      <p:ext uri="{BB962C8B-B14F-4D97-AF65-F5344CB8AC3E}">
        <p14:creationId xmlns:p14="http://schemas.microsoft.com/office/powerpoint/2010/main" val="3126492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9513A-275C-1F11-4BA9-A32E4B56B7B4}"/>
              </a:ext>
            </a:extLst>
          </p:cNvPr>
          <p:cNvSpPr>
            <a:spLocks noGrp="1"/>
          </p:cNvSpPr>
          <p:nvPr>
            <p:ph type="title"/>
          </p:nvPr>
        </p:nvSpPr>
        <p:spPr/>
        <p:txBody>
          <a:bodyPr/>
          <a:lstStyle/>
          <a:p>
            <a:r>
              <a:rPr lang="en-IN" dirty="0"/>
              <a:t>References</a:t>
            </a:r>
          </a:p>
        </p:txBody>
      </p:sp>
      <p:sp>
        <p:nvSpPr>
          <p:cNvPr id="3" name="Text Placeholder 2">
            <a:extLst>
              <a:ext uri="{FF2B5EF4-FFF2-40B4-BE49-F238E27FC236}">
                <a16:creationId xmlns:a16="http://schemas.microsoft.com/office/drawing/2014/main" id="{D62EA9FA-682D-5F3E-6A75-0E6794810CBE}"/>
              </a:ext>
            </a:extLst>
          </p:cNvPr>
          <p:cNvSpPr>
            <a:spLocks noGrp="1"/>
          </p:cNvSpPr>
          <p:nvPr>
            <p:ph type="body" idx="1"/>
          </p:nvPr>
        </p:nvSpPr>
        <p:spPr/>
        <p:txBody>
          <a:bodyPr/>
          <a:lstStyle/>
          <a:p>
            <a:r>
              <a:rPr lang="en-IN" dirty="0">
                <a:hlinkClick r:id="rId2"/>
              </a:rPr>
              <a:t>https://howtomechatronics.com</a:t>
            </a:r>
            <a:endParaRPr lang="en-IN" dirty="0"/>
          </a:p>
          <a:p>
            <a:r>
              <a:rPr lang="en-IN">
                <a:hlinkClick r:id="rId3"/>
              </a:rPr>
              <a:t>https://www.Arduino.cc</a:t>
            </a:r>
            <a:endParaRPr lang="en-IN"/>
          </a:p>
          <a:p>
            <a:endParaRPr lang="en-IN" dirty="0"/>
          </a:p>
        </p:txBody>
      </p:sp>
      <p:sp>
        <p:nvSpPr>
          <p:cNvPr id="6" name="TextBox 5">
            <a:extLst>
              <a:ext uri="{FF2B5EF4-FFF2-40B4-BE49-F238E27FC236}">
                <a16:creationId xmlns:a16="http://schemas.microsoft.com/office/drawing/2014/main" id="{2353D035-0FDC-5F1B-891E-ADB507546783}"/>
              </a:ext>
            </a:extLst>
          </p:cNvPr>
          <p:cNvSpPr txBox="1"/>
          <p:nvPr/>
        </p:nvSpPr>
        <p:spPr>
          <a:xfrm>
            <a:off x="100012" y="514065"/>
            <a:ext cx="4576082" cy="523220"/>
          </a:xfrm>
          <a:prstGeom prst="rect">
            <a:avLst/>
          </a:prstGeom>
          <a:noFill/>
        </p:spPr>
        <p:txBody>
          <a:bodyPr wrap="square">
            <a:spAutoFit/>
          </a:bodyPr>
          <a:lstStyle/>
          <a:p>
            <a:r>
              <a:rPr lang="en" sz="2800" dirty="0">
                <a:solidFill>
                  <a:srgbClr val="263248"/>
                </a:solidFill>
                <a:latin typeface="Roboto Condensed"/>
                <a:ea typeface="Roboto Condensed"/>
                <a:cs typeface="Roboto Condensed"/>
                <a:sym typeface="Roboto Condensed"/>
              </a:rPr>
              <a:t>📖</a:t>
            </a:r>
            <a:endParaRPr lang="en-IN" sz="2800" dirty="0"/>
          </a:p>
        </p:txBody>
      </p:sp>
      <p:sp>
        <p:nvSpPr>
          <p:cNvPr id="7" name="Slide Number Placeholder 6">
            <a:extLst>
              <a:ext uri="{FF2B5EF4-FFF2-40B4-BE49-F238E27FC236}">
                <a16:creationId xmlns:a16="http://schemas.microsoft.com/office/drawing/2014/main" id="{1FEF5583-6836-723C-F845-9AA1283EEC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dirty="0"/>
          </a:p>
        </p:txBody>
      </p:sp>
    </p:spTree>
    <p:extLst>
      <p:ext uri="{BB962C8B-B14F-4D97-AF65-F5344CB8AC3E}">
        <p14:creationId xmlns:p14="http://schemas.microsoft.com/office/powerpoint/2010/main" val="736966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4" name="Google Shape;524;p33"/>
          <p:cNvSpPr txBox="1">
            <a:spLocks noGrp="1"/>
          </p:cNvSpPr>
          <p:nvPr>
            <p:ph type="ctrTitle" idx="4294967295"/>
          </p:nvPr>
        </p:nvSpPr>
        <p:spPr>
          <a:xfrm>
            <a:off x="1275150" y="2364400"/>
            <a:ext cx="65937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dirty="0">
                <a:solidFill>
                  <a:schemeClr val="accent5"/>
                </a:solidFill>
              </a:rPr>
              <a:t>THANKS!</a:t>
            </a:r>
            <a:endParaRPr sz="6000" dirty="0">
              <a:solidFill>
                <a:schemeClr val="accent5"/>
              </a:solidFill>
            </a:endParaRPr>
          </a:p>
        </p:txBody>
      </p:sp>
      <p:grpSp>
        <p:nvGrpSpPr>
          <p:cNvPr id="526" name="Google Shape;526;p33"/>
          <p:cNvGrpSpPr/>
          <p:nvPr/>
        </p:nvGrpSpPr>
        <p:grpSpPr>
          <a:xfrm>
            <a:off x="3996210" y="966817"/>
            <a:ext cx="1197664" cy="1126777"/>
            <a:chOff x="5972700" y="2330200"/>
            <a:chExt cx="411625" cy="387275"/>
          </a:xfrm>
        </p:grpSpPr>
        <p:sp>
          <p:nvSpPr>
            <p:cNvPr id="527" name="Google Shape;527;p33"/>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8" name="Google Shape;528;p33"/>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Slide Number Placeholder 1">
            <a:extLst>
              <a:ext uri="{FF2B5EF4-FFF2-40B4-BE49-F238E27FC236}">
                <a16:creationId xmlns:a16="http://schemas.microsoft.com/office/drawing/2014/main" id="{A07EDB4B-FED4-F0BC-A09B-1805EB61DB31}"/>
              </a:ext>
            </a:extLst>
          </p:cNvPr>
          <p:cNvSpPr>
            <a:spLocks noGrp="1"/>
          </p:cNvSpPr>
          <p:nvPr>
            <p:ph type="sldNum" idx="12"/>
          </p:nvPr>
        </p:nvSpPr>
        <p:spPr/>
        <p:txBody>
          <a:bodyPr/>
          <a:lstStyle/>
          <a:p>
            <a:endParaRPr lang="en" dirty="0"/>
          </a:p>
          <a:p>
            <a:endParaRPr lang="en" dirty="0"/>
          </a:p>
          <a:p>
            <a:endParaRPr lang="en" dirty="0"/>
          </a:p>
          <a:p>
            <a:fld id="{00000000-1234-1234-1234-123412341234}" type="slidenum">
              <a:rPr lang="en" sz="1000" smtClean="0">
                <a:solidFill>
                  <a:schemeClr val="tx1"/>
                </a:solidFill>
              </a:rPr>
              <a:pPr/>
              <a:t>13</a:t>
            </a:fld>
            <a:endParaRPr dirty="0">
              <a:solidFill>
                <a:schemeClr val="tx1"/>
              </a:solidFill>
            </a:endParaRPr>
          </a:p>
        </p:txBody>
      </p:sp>
    </p:spTree>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19"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94DAEB-E9DD-47B3-B79D-F9350A26BCC3}">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300</TotalTime>
  <Words>482</Words>
  <Application>Microsoft Office PowerPoint</Application>
  <PresentationFormat>On-screen Show (16:9)</PresentationFormat>
  <Paragraphs>120</Paragraphs>
  <Slides>13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Roboto Condensed Light</vt:lpstr>
      <vt:lpstr>Roboto Condensed</vt:lpstr>
      <vt:lpstr>Calibri</vt:lpstr>
      <vt:lpstr>Times New Roman</vt:lpstr>
      <vt:lpstr>Arvo</vt:lpstr>
      <vt:lpstr>Salerio template</vt:lpstr>
      <vt:lpstr>PowerPoint Presentation</vt:lpstr>
      <vt:lpstr>Introduction </vt:lpstr>
      <vt:lpstr>Industry Expert with whom Project proposal is discussed</vt:lpstr>
      <vt:lpstr>Usefulness of the Project</vt:lpstr>
      <vt:lpstr>Social impact of the Project</vt:lpstr>
      <vt:lpstr>Objectives defined for the project</vt:lpstr>
      <vt:lpstr>Resources Needed (Hardware and Software)</vt:lpstr>
      <vt:lpstr>Project Cost</vt:lpstr>
      <vt:lpstr>Methodology</vt:lpstr>
      <vt:lpstr>Block Diagram</vt:lpstr>
      <vt:lpstr>Conclusion</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Tejas Brid</dc:creator>
  <cp:lastModifiedBy>SHREYAS TUKRUL</cp:lastModifiedBy>
  <cp:revision>13</cp:revision>
  <dcterms:modified xsi:type="dcterms:W3CDTF">2024-03-31T16:22:11Z</dcterms:modified>
</cp:coreProperties>
</file>